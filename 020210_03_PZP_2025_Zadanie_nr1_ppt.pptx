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2" r:id="rId8"/>
    <p:sldId id="261" r:id="rId9"/>
    <p:sldId id="267" r:id="rId10"/>
    <p:sldId id="264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5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bigniew Chaniecki I24" userId="248f576b-e812-4b16-9af7-6141fb96e2e8" providerId="ADAL" clId="{9FBED0B7-F8AD-42ED-8426-EEC34058D084}"/>
    <pc:docChg chg="modSld">
      <pc:chgData name="Zbigniew Chaniecki I24" userId="248f576b-e812-4b16-9af7-6141fb96e2e8" providerId="ADAL" clId="{9FBED0B7-F8AD-42ED-8426-EEC34058D084}" dt="2025-10-01T02:30:27.971" v="14" actId="20577"/>
      <pc:docMkLst>
        <pc:docMk/>
      </pc:docMkLst>
      <pc:sldChg chg="modSp mod">
        <pc:chgData name="Zbigniew Chaniecki I24" userId="248f576b-e812-4b16-9af7-6141fb96e2e8" providerId="ADAL" clId="{9FBED0B7-F8AD-42ED-8426-EEC34058D084}" dt="2025-10-01T02:30:27.971" v="14" actId="20577"/>
        <pc:sldMkLst>
          <pc:docMk/>
          <pc:sldMk cId="3992280433" sldId="263"/>
        </pc:sldMkLst>
        <pc:spChg chg="mod">
          <ac:chgData name="Zbigniew Chaniecki I24" userId="248f576b-e812-4b16-9af7-6141fb96e2e8" providerId="ADAL" clId="{9FBED0B7-F8AD-42ED-8426-EEC34058D084}" dt="2025-10-01T02:30:27.971" v="14" actId="20577"/>
          <ac:spMkLst>
            <pc:docMk/>
            <pc:sldMk cId="3992280433" sldId="263"/>
            <ac:spMk id="3" creationId="{FE4573EA-66BE-8605-DA46-FF12A3FFCD4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DB08C0-986B-49E9-996A-670300E32BFD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AFCAE6F-561D-41F6-9B78-092965C4D9DC}">
      <dgm:prSet/>
      <dgm:spPr/>
      <dgm:t>
        <a:bodyPr/>
        <a:lstStyle/>
        <a:p>
          <a:r>
            <a:rPr lang="pl-PL" dirty="0"/>
            <a:t>Zbyt rozbudowane aplikacje</a:t>
          </a:r>
          <a:endParaRPr lang="en-US" dirty="0"/>
        </a:p>
      </dgm:t>
    </dgm:pt>
    <dgm:pt modelId="{38174B87-7327-4C4F-9E4E-AE5CB85442A1}" type="parTrans" cxnId="{5A9A6BE6-B028-42C3-9A0F-4356976E4857}">
      <dgm:prSet/>
      <dgm:spPr/>
      <dgm:t>
        <a:bodyPr/>
        <a:lstStyle/>
        <a:p>
          <a:endParaRPr lang="en-US"/>
        </a:p>
      </dgm:t>
    </dgm:pt>
    <dgm:pt modelId="{80D292C8-D30B-4B48-BCB5-1973FFDB6C60}" type="sibTrans" cxnId="{5A9A6BE6-B028-42C3-9A0F-4356976E4857}">
      <dgm:prSet/>
      <dgm:spPr/>
      <dgm:t>
        <a:bodyPr/>
        <a:lstStyle/>
        <a:p>
          <a:endParaRPr lang="en-US"/>
        </a:p>
      </dgm:t>
    </dgm:pt>
    <dgm:pt modelId="{22ED8D73-D3F6-412E-923C-17BDA5DA0FD2}">
      <dgm:prSet/>
      <dgm:spPr/>
      <dgm:t>
        <a:bodyPr/>
        <a:lstStyle/>
        <a:p>
          <a:r>
            <a:rPr lang="pl-PL" dirty="0"/>
            <a:t>Brak wiedzy związanej z edycją zdjęć</a:t>
          </a:r>
          <a:endParaRPr lang="en-US" dirty="0"/>
        </a:p>
      </dgm:t>
    </dgm:pt>
    <dgm:pt modelId="{EDC654F3-003F-4C42-91BF-5E32A921BA62}" type="parTrans" cxnId="{735B1DAA-8977-4C3B-8ECB-0331A1E69F3D}">
      <dgm:prSet/>
      <dgm:spPr/>
      <dgm:t>
        <a:bodyPr/>
        <a:lstStyle/>
        <a:p>
          <a:endParaRPr lang="en-US"/>
        </a:p>
      </dgm:t>
    </dgm:pt>
    <dgm:pt modelId="{519D6882-BD52-4E2E-A0A7-2511FF054D20}" type="sibTrans" cxnId="{735B1DAA-8977-4C3B-8ECB-0331A1E69F3D}">
      <dgm:prSet/>
      <dgm:spPr/>
      <dgm:t>
        <a:bodyPr/>
        <a:lstStyle/>
        <a:p>
          <a:endParaRPr lang="en-US"/>
        </a:p>
      </dgm:t>
    </dgm:pt>
    <dgm:pt modelId="{AFDDF888-8056-4D35-8348-43983EB75C1C}">
      <dgm:prSet/>
      <dgm:spPr/>
      <dgm:t>
        <a:bodyPr/>
        <a:lstStyle/>
        <a:p>
          <a:r>
            <a:rPr lang="pl-PL" dirty="0"/>
            <a:t>Zbyt wymagające aplikacje</a:t>
          </a:r>
          <a:endParaRPr lang="en-US" dirty="0"/>
        </a:p>
      </dgm:t>
    </dgm:pt>
    <dgm:pt modelId="{9F48A3C0-987A-47AE-A965-8D983CAC93F4}" type="parTrans" cxnId="{2C4D6057-F56E-44D0-9A1E-5AD30843EECC}">
      <dgm:prSet/>
      <dgm:spPr/>
      <dgm:t>
        <a:bodyPr/>
        <a:lstStyle/>
        <a:p>
          <a:endParaRPr lang="en-US"/>
        </a:p>
      </dgm:t>
    </dgm:pt>
    <dgm:pt modelId="{108B5C75-CE19-4DED-AA42-35F86289A585}" type="sibTrans" cxnId="{2C4D6057-F56E-44D0-9A1E-5AD30843EECC}">
      <dgm:prSet/>
      <dgm:spPr/>
      <dgm:t>
        <a:bodyPr/>
        <a:lstStyle/>
        <a:p>
          <a:endParaRPr lang="en-US"/>
        </a:p>
      </dgm:t>
    </dgm:pt>
    <dgm:pt modelId="{2CDA0609-0DFA-4262-B2AA-C69AE6A4ED62}">
      <dgm:prSet/>
      <dgm:spPr/>
      <dgm:t>
        <a:bodyPr/>
        <a:lstStyle/>
        <a:p>
          <a:r>
            <a:rPr lang="pl-PL" dirty="0"/>
            <a:t>Zbyt drogie aplikacje</a:t>
          </a:r>
          <a:endParaRPr lang="en-US" dirty="0"/>
        </a:p>
      </dgm:t>
    </dgm:pt>
    <dgm:pt modelId="{9C0E6CBD-2D25-4A9F-AA76-717148E835B1}" type="parTrans" cxnId="{2ABA3667-33C8-4D1C-B74D-37B954BFB5B9}">
      <dgm:prSet/>
      <dgm:spPr/>
      <dgm:t>
        <a:bodyPr/>
        <a:lstStyle/>
        <a:p>
          <a:endParaRPr lang="en-US"/>
        </a:p>
      </dgm:t>
    </dgm:pt>
    <dgm:pt modelId="{E2265658-7F21-4356-A5B1-BD2DA55FCB58}" type="sibTrans" cxnId="{2ABA3667-33C8-4D1C-B74D-37B954BFB5B9}">
      <dgm:prSet/>
      <dgm:spPr/>
      <dgm:t>
        <a:bodyPr/>
        <a:lstStyle/>
        <a:p>
          <a:endParaRPr lang="en-US"/>
        </a:p>
      </dgm:t>
    </dgm:pt>
    <dgm:pt modelId="{BF1B22D2-F710-4166-87E2-2E21D368C2E9}" type="pres">
      <dgm:prSet presAssocID="{96DB08C0-986B-49E9-996A-670300E32BFD}" presName="diagram" presStyleCnt="0">
        <dgm:presLayoutVars>
          <dgm:dir/>
          <dgm:resizeHandles val="exact"/>
        </dgm:presLayoutVars>
      </dgm:prSet>
      <dgm:spPr/>
    </dgm:pt>
    <dgm:pt modelId="{A98A7D22-4AFC-46C3-8BED-2E0638CD0095}" type="pres">
      <dgm:prSet presAssocID="{5AFCAE6F-561D-41F6-9B78-092965C4D9DC}" presName="node" presStyleLbl="node1" presStyleIdx="0" presStyleCnt="4">
        <dgm:presLayoutVars>
          <dgm:bulletEnabled val="1"/>
        </dgm:presLayoutVars>
      </dgm:prSet>
      <dgm:spPr/>
    </dgm:pt>
    <dgm:pt modelId="{214A6BDB-D8C5-4617-857C-45F1CBE9121F}" type="pres">
      <dgm:prSet presAssocID="{80D292C8-D30B-4B48-BCB5-1973FFDB6C60}" presName="sibTrans" presStyleCnt="0"/>
      <dgm:spPr/>
    </dgm:pt>
    <dgm:pt modelId="{0815B6D7-183D-4156-A61B-E5C000A4331B}" type="pres">
      <dgm:prSet presAssocID="{22ED8D73-D3F6-412E-923C-17BDA5DA0FD2}" presName="node" presStyleLbl="node1" presStyleIdx="1" presStyleCnt="4">
        <dgm:presLayoutVars>
          <dgm:bulletEnabled val="1"/>
        </dgm:presLayoutVars>
      </dgm:prSet>
      <dgm:spPr/>
    </dgm:pt>
    <dgm:pt modelId="{557E4C9D-9323-416B-8FB4-FB10A3DC6A4D}" type="pres">
      <dgm:prSet presAssocID="{519D6882-BD52-4E2E-A0A7-2511FF054D20}" presName="sibTrans" presStyleCnt="0"/>
      <dgm:spPr/>
    </dgm:pt>
    <dgm:pt modelId="{DDA7744F-9189-47EB-879D-251BEC25B33D}" type="pres">
      <dgm:prSet presAssocID="{AFDDF888-8056-4D35-8348-43983EB75C1C}" presName="node" presStyleLbl="node1" presStyleIdx="2" presStyleCnt="4">
        <dgm:presLayoutVars>
          <dgm:bulletEnabled val="1"/>
        </dgm:presLayoutVars>
      </dgm:prSet>
      <dgm:spPr/>
    </dgm:pt>
    <dgm:pt modelId="{7F5D04CE-5F66-427D-97FC-FCFEB0B32C68}" type="pres">
      <dgm:prSet presAssocID="{108B5C75-CE19-4DED-AA42-35F86289A585}" presName="sibTrans" presStyleCnt="0"/>
      <dgm:spPr/>
    </dgm:pt>
    <dgm:pt modelId="{5B994957-B23C-43F7-99F0-370049D23F87}" type="pres">
      <dgm:prSet presAssocID="{2CDA0609-0DFA-4262-B2AA-C69AE6A4ED62}" presName="node" presStyleLbl="node1" presStyleIdx="3" presStyleCnt="4">
        <dgm:presLayoutVars>
          <dgm:bulletEnabled val="1"/>
        </dgm:presLayoutVars>
      </dgm:prSet>
      <dgm:spPr/>
    </dgm:pt>
  </dgm:ptLst>
  <dgm:cxnLst>
    <dgm:cxn modelId="{B7EB911B-A55E-43A1-85A9-96594D92BD41}" type="presOf" srcId="{AFDDF888-8056-4D35-8348-43983EB75C1C}" destId="{DDA7744F-9189-47EB-879D-251BEC25B33D}" srcOrd="0" destOrd="0" presId="urn:microsoft.com/office/officeart/2005/8/layout/default"/>
    <dgm:cxn modelId="{2ABA3667-33C8-4D1C-B74D-37B954BFB5B9}" srcId="{96DB08C0-986B-49E9-996A-670300E32BFD}" destId="{2CDA0609-0DFA-4262-B2AA-C69AE6A4ED62}" srcOrd="3" destOrd="0" parTransId="{9C0E6CBD-2D25-4A9F-AA76-717148E835B1}" sibTransId="{E2265658-7F21-4356-A5B1-BD2DA55FCB58}"/>
    <dgm:cxn modelId="{F089816B-0922-4345-929F-7E66234A50FC}" type="presOf" srcId="{5AFCAE6F-561D-41F6-9B78-092965C4D9DC}" destId="{A98A7D22-4AFC-46C3-8BED-2E0638CD0095}" srcOrd="0" destOrd="0" presId="urn:microsoft.com/office/officeart/2005/8/layout/default"/>
    <dgm:cxn modelId="{2C4D6057-F56E-44D0-9A1E-5AD30843EECC}" srcId="{96DB08C0-986B-49E9-996A-670300E32BFD}" destId="{AFDDF888-8056-4D35-8348-43983EB75C1C}" srcOrd="2" destOrd="0" parTransId="{9F48A3C0-987A-47AE-A965-8D983CAC93F4}" sibTransId="{108B5C75-CE19-4DED-AA42-35F86289A585}"/>
    <dgm:cxn modelId="{735B1DAA-8977-4C3B-8ECB-0331A1E69F3D}" srcId="{96DB08C0-986B-49E9-996A-670300E32BFD}" destId="{22ED8D73-D3F6-412E-923C-17BDA5DA0FD2}" srcOrd="1" destOrd="0" parTransId="{EDC654F3-003F-4C42-91BF-5E32A921BA62}" sibTransId="{519D6882-BD52-4E2E-A0A7-2511FF054D20}"/>
    <dgm:cxn modelId="{09D3BEBE-F2B3-488C-ACA8-DA7C8CBC1397}" type="presOf" srcId="{96DB08C0-986B-49E9-996A-670300E32BFD}" destId="{BF1B22D2-F710-4166-87E2-2E21D368C2E9}" srcOrd="0" destOrd="0" presId="urn:microsoft.com/office/officeart/2005/8/layout/default"/>
    <dgm:cxn modelId="{2249C7C3-5D84-4E65-B809-D65EC8039646}" type="presOf" srcId="{2CDA0609-0DFA-4262-B2AA-C69AE6A4ED62}" destId="{5B994957-B23C-43F7-99F0-370049D23F87}" srcOrd="0" destOrd="0" presId="urn:microsoft.com/office/officeart/2005/8/layout/default"/>
    <dgm:cxn modelId="{5A9A6BE6-B028-42C3-9A0F-4356976E4857}" srcId="{96DB08C0-986B-49E9-996A-670300E32BFD}" destId="{5AFCAE6F-561D-41F6-9B78-092965C4D9DC}" srcOrd="0" destOrd="0" parTransId="{38174B87-7327-4C4F-9E4E-AE5CB85442A1}" sibTransId="{80D292C8-D30B-4B48-BCB5-1973FFDB6C60}"/>
    <dgm:cxn modelId="{0753ADF3-E731-4B54-8F02-3500D0F4FF1D}" type="presOf" srcId="{22ED8D73-D3F6-412E-923C-17BDA5DA0FD2}" destId="{0815B6D7-183D-4156-A61B-E5C000A4331B}" srcOrd="0" destOrd="0" presId="urn:microsoft.com/office/officeart/2005/8/layout/default"/>
    <dgm:cxn modelId="{C705B2FF-92B4-42C2-B2A2-B66BAB43429C}" type="presParOf" srcId="{BF1B22D2-F710-4166-87E2-2E21D368C2E9}" destId="{A98A7D22-4AFC-46C3-8BED-2E0638CD0095}" srcOrd="0" destOrd="0" presId="urn:microsoft.com/office/officeart/2005/8/layout/default"/>
    <dgm:cxn modelId="{CCB20CA4-88FF-465D-AD8D-2E9909CEC5C4}" type="presParOf" srcId="{BF1B22D2-F710-4166-87E2-2E21D368C2E9}" destId="{214A6BDB-D8C5-4617-857C-45F1CBE9121F}" srcOrd="1" destOrd="0" presId="urn:microsoft.com/office/officeart/2005/8/layout/default"/>
    <dgm:cxn modelId="{D6EEE98E-854E-4A9E-AA66-A6C01F53972C}" type="presParOf" srcId="{BF1B22D2-F710-4166-87E2-2E21D368C2E9}" destId="{0815B6D7-183D-4156-A61B-E5C000A4331B}" srcOrd="2" destOrd="0" presId="urn:microsoft.com/office/officeart/2005/8/layout/default"/>
    <dgm:cxn modelId="{5499C29B-8F2F-4580-A2CD-537EB8AC922A}" type="presParOf" srcId="{BF1B22D2-F710-4166-87E2-2E21D368C2E9}" destId="{557E4C9D-9323-416B-8FB4-FB10A3DC6A4D}" srcOrd="3" destOrd="0" presId="urn:microsoft.com/office/officeart/2005/8/layout/default"/>
    <dgm:cxn modelId="{6D78E7FF-7C71-4966-A593-1083ABC9D459}" type="presParOf" srcId="{BF1B22D2-F710-4166-87E2-2E21D368C2E9}" destId="{DDA7744F-9189-47EB-879D-251BEC25B33D}" srcOrd="4" destOrd="0" presId="urn:microsoft.com/office/officeart/2005/8/layout/default"/>
    <dgm:cxn modelId="{A3B92C6A-DD00-4577-80A1-0827A91F037C}" type="presParOf" srcId="{BF1B22D2-F710-4166-87E2-2E21D368C2E9}" destId="{7F5D04CE-5F66-427D-97FC-FCFEB0B32C68}" srcOrd="5" destOrd="0" presId="urn:microsoft.com/office/officeart/2005/8/layout/default"/>
    <dgm:cxn modelId="{32C8DAE1-9CB9-474B-B82C-B43A0DC5F7DA}" type="presParOf" srcId="{BF1B22D2-F710-4166-87E2-2E21D368C2E9}" destId="{5B994957-B23C-43F7-99F0-370049D23F8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A7D22-4AFC-46C3-8BED-2E0638CD0095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000" kern="1200" dirty="0"/>
            <a:t>Zbyt rozbudowane aplikacje</a:t>
          </a:r>
          <a:endParaRPr lang="en-US" sz="4000" kern="1200" dirty="0"/>
        </a:p>
      </dsp:txBody>
      <dsp:txXfrm>
        <a:off x="1748064" y="2975"/>
        <a:ext cx="3342605" cy="2005563"/>
      </dsp:txXfrm>
    </dsp:sp>
    <dsp:sp modelId="{0815B6D7-183D-4156-A61B-E5C000A4331B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000" kern="1200" dirty="0"/>
            <a:t>Brak wiedzy związanej z edycją zdjęć</a:t>
          </a:r>
          <a:endParaRPr lang="en-US" sz="4000" kern="1200" dirty="0"/>
        </a:p>
      </dsp:txBody>
      <dsp:txXfrm>
        <a:off x="5424930" y="2975"/>
        <a:ext cx="3342605" cy="2005563"/>
      </dsp:txXfrm>
    </dsp:sp>
    <dsp:sp modelId="{DDA7744F-9189-47EB-879D-251BEC25B33D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000" kern="1200" dirty="0"/>
            <a:t>Zbyt wymagające aplikacje</a:t>
          </a:r>
          <a:endParaRPr lang="en-US" sz="4000" kern="1200" dirty="0"/>
        </a:p>
      </dsp:txBody>
      <dsp:txXfrm>
        <a:off x="1748064" y="2342799"/>
        <a:ext cx="3342605" cy="2005563"/>
      </dsp:txXfrm>
    </dsp:sp>
    <dsp:sp modelId="{5B994957-B23C-43F7-99F0-370049D23F87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4000" kern="1200" dirty="0"/>
            <a:t>Zbyt drogie aplikacje</a:t>
          </a:r>
          <a:endParaRPr lang="en-US" sz="4000" kern="1200" dirty="0"/>
        </a:p>
      </dsp:txBody>
      <dsp:txXfrm>
        <a:off x="5424930" y="2342799"/>
        <a:ext cx="3342605" cy="2005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F80652-5061-63C7-EA8F-F4CC5CB7B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94F8B93-4544-2633-1BA1-D2FE61B43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955510F-8BC5-A85F-5FA5-36040E33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542F5CE-AF8E-6D46-EF53-645763CCC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65E8AED-B796-566D-400E-90BBA5D6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8085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85D1AD-B0AB-D894-8651-E4BA3CF0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7740EA-957D-E55B-50C2-0D19E32A7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E6F5F34-2484-F3E9-CD6C-51AF8D636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DDB3AF5-D380-15DE-1336-60653916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F212D68-9A63-2F29-C5FD-248FC2BC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4671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AA05E0-DF08-D7C6-A1BB-1358A84A2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7CAB42C-F3DC-6BFB-23F3-0352B10E1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2BA94CF-8B25-8516-9AD5-08B634B0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23D240E-8445-C422-8CCF-5387D465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4F94DCC-0C1B-396E-4D77-95430D35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254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1E8EE4-8B6B-4DF9-B918-52FFF2DD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E8BB05-6494-2AAF-D2B8-57D753D77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30640FC-5E6E-8BFE-D7DB-6B63B3081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D19D308-73AB-1B3A-58FA-942D2C75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F9C278C-A54E-D84F-7FC7-02792FE7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CFD1822-FB6D-D4EB-12DC-8C937894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586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49F2A3-F87C-04A2-DADA-48E15B9B0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A030727-48CA-477D-C195-28581EE46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F171470-DC4A-AA02-800B-9019533BB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EA8851E-5701-1DC6-131E-F2F14018A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E893E7A-DC50-971B-FCD6-1D52894B4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23E3837-343F-86CC-8B17-B37F7C226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B5EE4D3-AA40-5FF6-F7B0-13FC017D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EAAE2F6-96FE-E584-2F74-090661DD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105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E832FE-03C6-1A82-1A86-E09A8527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5E465F35-C0D5-DA02-6656-202F3B42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F7A6B64-717E-8B8D-B0EA-8CAADE70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BBA0115-4205-941A-CF0B-DFE3D35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73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9216CA4-02D4-36EB-D8C2-1F46B24C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B07595B-777F-5FE2-0340-3972A809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57748F0-4F00-A54D-CA61-FF73A411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088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762FFD-CF68-627D-1EC2-B3D6C36B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D99216E-C410-93D1-3A2C-259C462E6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7244EEE-3CC3-D4B0-C512-E99589D1D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AE0C661-5EA0-C8D5-8AED-1AEEF5F1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4CBFACF-1EBC-2577-BB45-975E7DCB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FF16C95-9335-090C-4E4B-FFF82C30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3517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4CBF39-FE0C-EE6E-B82A-CFC0CFA7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FF6FCF-3347-7A76-D682-862003D27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066CBE6-FAAF-EDC7-8725-E60C6DCC0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BFC5248-3938-F50F-6E93-9A029C1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C433972-0D03-F585-3516-11CACCBA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5419518-4974-7E41-9FFB-86BC868E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53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0D3088-A27C-2D40-7FF8-1C868547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237BEAD-6082-E954-8992-DF1EF99A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DBF33A-FF8A-A999-B3A2-6919BDE7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700BAD7-7C13-FB3C-D8A4-6608F660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FADE52-5EEF-5809-8838-00A831FD8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837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37755E67-7414-4231-B22B-92B64C089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951FA6A-51F3-845E-269E-C9C9808D6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F89478-3820-FA3E-82D5-241C0D7AC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38A3CB8-AF36-8E32-EEFB-0D78576A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90D749D-6EF7-501E-58DD-5736E1D1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474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5A4815E-3324-4367-4E35-0FDB26E3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8F8B1AF-0BD0-B0F9-B265-BF5B30E4A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6F9BB67-5CBA-82C6-B2D2-727ED8AAC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B58D2-1A7B-4809-9BCD-7AB3475B37CA}" type="datetimeFigureOut">
              <a:rPr lang="pl-PL" smtClean="0"/>
              <a:t>28.10.2025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CAC02F2-EA7B-5E36-D36D-01E6040AC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FC6F83E-FA45-6D7D-071D-A6FA734A1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D191-CA7E-4B39-ADC8-56B2924DD7C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572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D818CF-7510-1F67-27A0-5AC436DB1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4203"/>
            <a:ext cx="9144000" cy="2387600"/>
          </a:xfrm>
        </p:spPr>
        <p:txBody>
          <a:bodyPr/>
          <a:lstStyle/>
          <a:p>
            <a:r>
              <a:rPr lang="pl-PL" dirty="0"/>
              <a:t>Podstawy Zarządzania Projektami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4AAC9D2-4D13-A271-C26B-4BD538697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32326"/>
            <a:ext cx="9144000" cy="1655762"/>
          </a:xfrm>
        </p:spPr>
        <p:txBody>
          <a:bodyPr/>
          <a:lstStyle/>
          <a:p>
            <a:r>
              <a:rPr lang="pl-PL" dirty="0"/>
              <a:t>Zadanie nr 1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3A7FA42-E25F-4C7C-BCEC-07B98CB0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" y="0"/>
            <a:ext cx="4849495" cy="197663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BF8D2D5C-F9BC-4078-A280-0C346D13EC5B}"/>
              </a:ext>
            </a:extLst>
          </p:cNvPr>
          <p:cNvSpPr txBox="1"/>
          <p:nvPr/>
        </p:nvSpPr>
        <p:spPr>
          <a:xfrm>
            <a:off x="8310880" y="4632326"/>
            <a:ext cx="351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Zespół nr PZP25_x2wt10_03</a:t>
            </a:r>
          </a:p>
          <a:p>
            <a:r>
              <a:rPr lang="pl-PL" dirty="0"/>
              <a:t>Patryk Koszlaga, 252801</a:t>
            </a:r>
          </a:p>
          <a:p>
            <a:r>
              <a:rPr lang="pl-PL" dirty="0"/>
              <a:t>Jakub Kozubek, 252806</a:t>
            </a:r>
          </a:p>
          <a:p>
            <a:r>
              <a:rPr lang="pl-PL" dirty="0"/>
              <a:t>Mateusz </a:t>
            </a:r>
            <a:r>
              <a:rPr lang="pl-PL" dirty="0" err="1"/>
              <a:t>Mariasik</a:t>
            </a:r>
            <a:r>
              <a:rPr lang="pl-PL" dirty="0"/>
              <a:t>, 251185</a:t>
            </a:r>
          </a:p>
        </p:txBody>
      </p:sp>
    </p:spTree>
    <p:extLst>
      <p:ext uri="{BB962C8B-B14F-4D97-AF65-F5344CB8AC3E}">
        <p14:creationId xmlns:p14="http://schemas.microsoft.com/office/powerpoint/2010/main" val="2235253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583783-45AA-9FA1-0579-09BEF233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9498" y="908344"/>
            <a:ext cx="5244301" cy="1538130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chemeClr val="tx2"/>
                </a:solidFill>
              </a:rPr>
              <a:t>Identyfikacja wizualna „produktu”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B6C29DB0-17E9-42FF-986E-0B7F493F4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199584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115AD956-A5B6-4760-B8B2-11E2DF6B0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rgbClr val="4C4C4C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pl-PL"/>
          </a:p>
        </p:txBody>
      </p:sp>
      <p:pic>
        <p:nvPicPr>
          <p:cNvPr id="5" name="Grafika 4" descr="Identyfikator pracownika kontur">
            <a:extLst>
              <a:ext uri="{FF2B5EF4-FFF2-40B4-BE49-F238E27FC236}">
                <a16:creationId xmlns:a16="http://schemas.microsoft.com/office/drawing/2014/main" id="{1198DF04-993A-7821-AE74-90142CD9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80173" y="1790732"/>
            <a:ext cx="3267942" cy="3267942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A564026-F668-D4F5-37EB-4018052DF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1158" y="2706865"/>
            <a:ext cx="5383652" cy="3470097"/>
          </a:xfrm>
        </p:spPr>
        <p:txBody>
          <a:bodyPr>
            <a:normAutofit/>
          </a:bodyPr>
          <a:lstStyle/>
          <a:p>
            <a:r>
              <a:rPr lang="pl-PL" sz="2400" dirty="0"/>
              <a:t>Nazwa: </a:t>
            </a:r>
            <a:r>
              <a:rPr lang="pl-PL" sz="2400" dirty="0" err="1"/>
              <a:t>Easy</a:t>
            </a:r>
            <a:r>
              <a:rPr lang="pl-PL" sz="2400" dirty="0"/>
              <a:t> Photo Editor</a:t>
            </a:r>
          </a:p>
          <a:p>
            <a:r>
              <a:rPr lang="pl-PL" sz="2400" dirty="0"/>
              <a:t>Akronim: E-</a:t>
            </a:r>
            <a:r>
              <a:rPr lang="pl-PL" sz="2400" dirty="0" err="1"/>
              <a:t>photo</a:t>
            </a:r>
            <a:endParaRPr lang="pl-PL" sz="2400" dirty="0"/>
          </a:p>
          <a:p>
            <a:r>
              <a:rPr lang="pl-PL" sz="2400" dirty="0"/>
              <a:t>Logotyp:</a:t>
            </a:r>
          </a:p>
        </p:txBody>
      </p:sp>
      <p:pic>
        <p:nvPicPr>
          <p:cNvPr id="8" name="Obraz 7" descr="Obraz zawierający tekst, logo, Czcionka, symbol&#10;&#10;Zawartość wygenerowana przez AI może być niepoprawna.">
            <a:extLst>
              <a:ext uri="{FF2B5EF4-FFF2-40B4-BE49-F238E27FC236}">
                <a16:creationId xmlns:a16="http://schemas.microsoft.com/office/drawing/2014/main" id="{4AA1948E-D085-4DB0-30A7-35D295348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146" y="3576464"/>
            <a:ext cx="2517676" cy="251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0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D979F41-EEA7-C0BC-FDA5-CD8CF634B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094" y="3190240"/>
            <a:ext cx="5238466" cy="65076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 err="1">
                <a:solidFill>
                  <a:schemeClr val="tx2"/>
                </a:solidFill>
              </a:rPr>
              <a:t>Tytuł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projekt</a:t>
            </a:r>
            <a:r>
              <a:rPr lang="pl-PL" sz="2800" dirty="0">
                <a:solidFill>
                  <a:schemeClr val="tx2"/>
                </a:solidFill>
              </a:rPr>
              <a:t>u: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5D53B8-A442-7955-5E34-7EE75E7F8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096" y="3842932"/>
            <a:ext cx="4167115" cy="21635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400" dirty="0"/>
              <a:t>E-Photo – Prosty edytor zdjęć w </a:t>
            </a:r>
            <a:r>
              <a:rPr lang="pl-PL" sz="2400" dirty="0" err="1"/>
              <a:t>Pythonie</a:t>
            </a:r>
            <a:r>
              <a:rPr lang="pl-PL" sz="2400" dirty="0"/>
              <a:t>.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a 4" descr="Aparat kontur">
            <a:extLst>
              <a:ext uri="{FF2B5EF4-FFF2-40B4-BE49-F238E27FC236}">
                <a16:creationId xmlns:a16="http://schemas.microsoft.com/office/drawing/2014/main" id="{881C8BD8-C10E-A4B1-BB1B-0FD36048F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31503" y="2129307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3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3AAF316-E4B1-8760-0F81-898B8C41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chemeClr val="tx2"/>
                </a:solidFill>
              </a:rPr>
              <a:t>Grupa docelowa, czyli kto?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E689079-EF04-891B-FC8B-C56782458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5565224" cy="3639289"/>
          </a:xfrm>
        </p:spPr>
        <p:txBody>
          <a:bodyPr anchor="ctr">
            <a:normAutofit/>
          </a:bodyPr>
          <a:lstStyle/>
          <a:p>
            <a:r>
              <a:rPr lang="pl-PL" sz="2000" dirty="0">
                <a:solidFill>
                  <a:schemeClr val="tx2"/>
                </a:solidFill>
              </a:rPr>
              <a:t>Nasz projekt aplikacji do edycji zdjęć E-Photo jest skierowany do indywidualnych użytkowników, którzy potrzebują prostego narzędzia do edycji zdjęć. </a:t>
            </a:r>
          </a:p>
          <a:p>
            <a:r>
              <a:rPr lang="pl-PL" sz="2000" dirty="0">
                <a:solidFill>
                  <a:schemeClr val="tx2"/>
                </a:solidFill>
              </a:rPr>
              <a:t>Główne grupy odbiorców:</a:t>
            </a:r>
          </a:p>
          <a:p>
            <a:pPr marL="0" indent="0">
              <a:buNone/>
            </a:pPr>
            <a:r>
              <a:rPr lang="pl-PL" sz="2000" dirty="0">
                <a:solidFill>
                  <a:schemeClr val="tx2"/>
                </a:solidFill>
              </a:rPr>
              <a:t>    -Studenci i uczniowie </a:t>
            </a:r>
            <a:br>
              <a:rPr lang="pl-PL" sz="2000" dirty="0">
                <a:solidFill>
                  <a:schemeClr val="tx2"/>
                </a:solidFill>
              </a:rPr>
            </a:br>
            <a:r>
              <a:rPr lang="pl-PL" sz="2000" dirty="0">
                <a:solidFill>
                  <a:schemeClr val="tx2"/>
                </a:solidFill>
              </a:rPr>
              <a:t>    -Amatorzy fotografii Zwykli </a:t>
            </a:r>
            <a:br>
              <a:rPr lang="pl-PL" sz="2000" dirty="0">
                <a:solidFill>
                  <a:schemeClr val="tx2"/>
                </a:solidFill>
              </a:rPr>
            </a:br>
            <a:r>
              <a:rPr lang="pl-PL" sz="2000" dirty="0">
                <a:solidFill>
                  <a:schemeClr val="tx2"/>
                </a:solidFill>
              </a:rPr>
              <a:t>    -użytkownicy telefonów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Grafika 4" descr="Group of people">
            <a:extLst>
              <a:ext uri="{FF2B5EF4-FFF2-40B4-BE49-F238E27FC236}">
                <a16:creationId xmlns:a16="http://schemas.microsoft.com/office/drawing/2014/main" id="{45519B58-419C-E8BA-731E-E3787B97D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971" y="1281727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49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8FEFCA-020E-D158-6BF3-D2FEB5143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chemeClr val="tx2"/>
                </a:solidFill>
              </a:rPr>
              <a:t>Jaki problem do rozwiązania?</a:t>
            </a:r>
            <a:br>
              <a:rPr lang="pl-PL" sz="2800" dirty="0">
                <a:solidFill>
                  <a:schemeClr val="tx2"/>
                </a:solidFill>
              </a:rPr>
            </a:br>
            <a:r>
              <a:rPr lang="pl-PL" sz="2800" dirty="0">
                <a:solidFill>
                  <a:schemeClr val="tx2"/>
                </a:solidFill>
              </a:rPr>
              <a:t>Jaki problem ma grupa docelowa?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4BF5AED-0DA9-0C6E-C716-073DF37C10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35975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9364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8A2EB53C-CFB0-49CC-BA4A-3C1BDC4C0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197" y="499247"/>
            <a:ext cx="6561982" cy="5859509"/>
          </a:xfrm>
          <a:custGeom>
            <a:avLst/>
            <a:gdLst>
              <a:gd name="connsiteX0" fmla="*/ 505253 w 6561982"/>
              <a:gd name="connsiteY0" fmla="*/ 3748096 h 5859509"/>
              <a:gd name="connsiteX1" fmla="*/ 1267386 w 6561982"/>
              <a:gd name="connsiteY1" fmla="*/ 3748096 h 5859509"/>
              <a:gd name="connsiteX2" fmla="*/ 1376262 w 6561982"/>
              <a:gd name="connsiteY2" fmla="*/ 3810385 h 5859509"/>
              <a:gd name="connsiteX3" fmla="*/ 1757328 w 6561982"/>
              <a:gd name="connsiteY3" fmla="*/ 4481707 h 5859509"/>
              <a:gd name="connsiteX4" fmla="*/ 1757328 w 6561982"/>
              <a:gd name="connsiteY4" fmla="*/ 4610898 h 5859509"/>
              <a:gd name="connsiteX5" fmla="*/ 1376262 w 6561982"/>
              <a:gd name="connsiteY5" fmla="*/ 5282218 h 5859509"/>
              <a:gd name="connsiteX6" fmla="*/ 1267386 w 6561982"/>
              <a:gd name="connsiteY6" fmla="*/ 5344506 h 5859509"/>
              <a:gd name="connsiteX7" fmla="*/ 505253 w 6561982"/>
              <a:gd name="connsiteY7" fmla="*/ 5344506 h 5859509"/>
              <a:gd name="connsiteX8" fmla="*/ 396379 w 6561982"/>
              <a:gd name="connsiteY8" fmla="*/ 5282218 h 5859509"/>
              <a:gd name="connsiteX9" fmla="*/ 15311 w 6561982"/>
              <a:gd name="connsiteY9" fmla="*/ 4610898 h 5859509"/>
              <a:gd name="connsiteX10" fmla="*/ 15311 w 6561982"/>
              <a:gd name="connsiteY10" fmla="*/ 4481707 h 5859509"/>
              <a:gd name="connsiteX11" fmla="*/ 396379 w 6561982"/>
              <a:gd name="connsiteY11" fmla="*/ 3810385 h 5859509"/>
              <a:gd name="connsiteX12" fmla="*/ 505253 w 6561982"/>
              <a:gd name="connsiteY12" fmla="*/ 3748096 h 5859509"/>
              <a:gd name="connsiteX13" fmla="*/ 3345172 w 6561982"/>
              <a:gd name="connsiteY13" fmla="*/ 1393265 h 5859509"/>
              <a:gd name="connsiteX14" fmla="*/ 3478742 w 6561982"/>
              <a:gd name="connsiteY14" fmla="*/ 1393265 h 5859509"/>
              <a:gd name="connsiteX15" fmla="*/ 5112069 w 6561982"/>
              <a:gd name="connsiteY15" fmla="*/ 1393265 h 5859509"/>
              <a:gd name="connsiteX16" fmla="*/ 5425562 w 6561982"/>
              <a:gd name="connsiteY16" fmla="*/ 1567527 h 5859509"/>
              <a:gd name="connsiteX17" fmla="*/ 6522794 w 6561982"/>
              <a:gd name="connsiteY17" fmla="*/ 3445673 h 5859509"/>
              <a:gd name="connsiteX18" fmla="*/ 6522794 w 6561982"/>
              <a:gd name="connsiteY18" fmla="*/ 3807103 h 5859509"/>
              <a:gd name="connsiteX19" fmla="*/ 5425562 w 6561982"/>
              <a:gd name="connsiteY19" fmla="*/ 5685248 h 5859509"/>
              <a:gd name="connsiteX20" fmla="*/ 5112069 w 6561982"/>
              <a:gd name="connsiteY20" fmla="*/ 5859509 h 5859509"/>
              <a:gd name="connsiteX21" fmla="*/ 2917602 w 6561982"/>
              <a:gd name="connsiteY21" fmla="*/ 5859509 h 5859509"/>
              <a:gd name="connsiteX22" fmla="*/ 2604110 w 6561982"/>
              <a:gd name="connsiteY22" fmla="*/ 5685248 h 5859509"/>
              <a:gd name="connsiteX23" fmla="*/ 1506877 w 6561982"/>
              <a:gd name="connsiteY23" fmla="*/ 3807103 h 5859509"/>
              <a:gd name="connsiteX24" fmla="*/ 1506877 w 6561982"/>
              <a:gd name="connsiteY24" fmla="*/ 3445673 h 5859509"/>
              <a:gd name="connsiteX25" fmla="*/ 1700018 w 6561982"/>
              <a:gd name="connsiteY25" fmla="*/ 3115072 h 5859509"/>
              <a:gd name="connsiteX26" fmla="*/ 1782566 w 6561982"/>
              <a:gd name="connsiteY26" fmla="*/ 2973774 h 5859509"/>
              <a:gd name="connsiteX27" fmla="*/ 2820879 w 6561982"/>
              <a:gd name="connsiteY27" fmla="*/ 2973774 h 5859509"/>
              <a:gd name="connsiteX28" fmla="*/ 2981759 w 6561982"/>
              <a:gd name="connsiteY28" fmla="*/ 2884346 h 5859509"/>
              <a:gd name="connsiteX29" fmla="*/ 3544837 w 6561982"/>
              <a:gd name="connsiteY29" fmla="*/ 1920516 h 5859509"/>
              <a:gd name="connsiteX30" fmla="*/ 3544837 w 6561982"/>
              <a:gd name="connsiteY30" fmla="*/ 1735036 h 5859509"/>
              <a:gd name="connsiteX31" fmla="*/ 3361865 w 6561982"/>
              <a:gd name="connsiteY31" fmla="*/ 1421838 h 5859509"/>
              <a:gd name="connsiteX32" fmla="*/ 1756519 w 6561982"/>
              <a:gd name="connsiteY32" fmla="*/ 778062 h 5859509"/>
              <a:gd name="connsiteX33" fmla="*/ 2758795 w 6561982"/>
              <a:gd name="connsiteY33" fmla="*/ 778062 h 5859509"/>
              <a:gd name="connsiteX34" fmla="*/ 2901976 w 6561982"/>
              <a:gd name="connsiteY34" fmla="*/ 859976 h 5859509"/>
              <a:gd name="connsiteX35" fmla="*/ 3403112 w 6561982"/>
              <a:gd name="connsiteY35" fmla="*/ 1742826 h 5859509"/>
              <a:gd name="connsiteX36" fmla="*/ 3403112 w 6561982"/>
              <a:gd name="connsiteY36" fmla="*/ 1912724 h 5859509"/>
              <a:gd name="connsiteX37" fmla="*/ 2901976 w 6561982"/>
              <a:gd name="connsiteY37" fmla="*/ 2795573 h 5859509"/>
              <a:gd name="connsiteX38" fmla="*/ 2758795 w 6561982"/>
              <a:gd name="connsiteY38" fmla="*/ 2877487 h 5859509"/>
              <a:gd name="connsiteX39" fmla="*/ 1756519 w 6561982"/>
              <a:gd name="connsiteY39" fmla="*/ 2877487 h 5859509"/>
              <a:gd name="connsiteX40" fmla="*/ 1613339 w 6561982"/>
              <a:gd name="connsiteY40" fmla="*/ 2795573 h 5859509"/>
              <a:gd name="connsiteX41" fmla="*/ 1112202 w 6561982"/>
              <a:gd name="connsiteY41" fmla="*/ 1912724 h 5859509"/>
              <a:gd name="connsiteX42" fmla="*/ 1112202 w 6561982"/>
              <a:gd name="connsiteY42" fmla="*/ 1742826 h 5859509"/>
              <a:gd name="connsiteX43" fmla="*/ 1613339 w 6561982"/>
              <a:gd name="connsiteY43" fmla="*/ 859976 h 5859509"/>
              <a:gd name="connsiteX44" fmla="*/ 1756519 w 6561982"/>
              <a:gd name="connsiteY44" fmla="*/ 778062 h 5859509"/>
              <a:gd name="connsiteX45" fmla="*/ 3339833 w 6561982"/>
              <a:gd name="connsiteY45" fmla="*/ 0 h 5859509"/>
              <a:gd name="connsiteX46" fmla="*/ 3952099 w 6561982"/>
              <a:gd name="connsiteY46" fmla="*/ 0 h 5859509"/>
              <a:gd name="connsiteX47" fmla="*/ 4039566 w 6561982"/>
              <a:gd name="connsiteY47" fmla="*/ 50040 h 5859509"/>
              <a:gd name="connsiteX48" fmla="*/ 4345699 w 6561982"/>
              <a:gd name="connsiteY48" fmla="*/ 589353 h 5859509"/>
              <a:gd name="connsiteX49" fmla="*/ 4345699 w 6561982"/>
              <a:gd name="connsiteY49" fmla="*/ 693138 h 5859509"/>
              <a:gd name="connsiteX50" fmla="*/ 4039566 w 6561982"/>
              <a:gd name="connsiteY50" fmla="*/ 1232450 h 5859509"/>
              <a:gd name="connsiteX51" fmla="*/ 3952099 w 6561982"/>
              <a:gd name="connsiteY51" fmla="*/ 1282490 h 5859509"/>
              <a:gd name="connsiteX52" fmla="*/ 3339833 w 6561982"/>
              <a:gd name="connsiteY52" fmla="*/ 1282490 h 5859509"/>
              <a:gd name="connsiteX53" fmla="*/ 3252368 w 6561982"/>
              <a:gd name="connsiteY53" fmla="*/ 1232450 h 5859509"/>
              <a:gd name="connsiteX54" fmla="*/ 2946235 w 6561982"/>
              <a:gd name="connsiteY54" fmla="*/ 693138 h 5859509"/>
              <a:gd name="connsiteX55" fmla="*/ 2946235 w 6561982"/>
              <a:gd name="connsiteY55" fmla="*/ 589353 h 5859509"/>
              <a:gd name="connsiteX56" fmla="*/ 3252368 w 6561982"/>
              <a:gd name="connsiteY56" fmla="*/ 50040 h 5859509"/>
              <a:gd name="connsiteX57" fmla="*/ 3339833 w 6561982"/>
              <a:gd name="connsiteY57" fmla="*/ 0 h 585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561982" h="5859509">
                <a:moveTo>
                  <a:pt x="505253" y="3748096"/>
                </a:moveTo>
                <a:cubicBezTo>
                  <a:pt x="1267386" y="3748096"/>
                  <a:pt x="1267386" y="3748096"/>
                  <a:pt x="1267386" y="3748096"/>
                </a:cubicBezTo>
                <a:cubicBezTo>
                  <a:pt x="1305947" y="3748096"/>
                  <a:pt x="1355848" y="3775781"/>
                  <a:pt x="1376262" y="3810385"/>
                </a:cubicBezTo>
                <a:cubicBezTo>
                  <a:pt x="1757328" y="4481707"/>
                  <a:pt x="1757328" y="4481707"/>
                  <a:pt x="1757328" y="4481707"/>
                </a:cubicBezTo>
                <a:cubicBezTo>
                  <a:pt x="1775475" y="4518618"/>
                  <a:pt x="1775475" y="4573985"/>
                  <a:pt x="1757328" y="4610898"/>
                </a:cubicBezTo>
                <a:cubicBezTo>
                  <a:pt x="1376262" y="5282218"/>
                  <a:pt x="1376262" y="5282218"/>
                  <a:pt x="1376262" y="5282218"/>
                </a:cubicBezTo>
                <a:cubicBezTo>
                  <a:pt x="1355848" y="5316825"/>
                  <a:pt x="1305947" y="5344506"/>
                  <a:pt x="1267386" y="5344506"/>
                </a:cubicBezTo>
                <a:lnTo>
                  <a:pt x="505253" y="5344506"/>
                </a:lnTo>
                <a:cubicBezTo>
                  <a:pt x="464425" y="5344506"/>
                  <a:pt x="414524" y="5316825"/>
                  <a:pt x="396379" y="5282218"/>
                </a:cubicBezTo>
                <a:cubicBezTo>
                  <a:pt x="15311" y="4610898"/>
                  <a:pt x="15311" y="4610898"/>
                  <a:pt x="15311" y="4610898"/>
                </a:cubicBezTo>
                <a:cubicBezTo>
                  <a:pt x="-5103" y="4573985"/>
                  <a:pt x="-5103" y="4518618"/>
                  <a:pt x="15311" y="4481707"/>
                </a:cubicBezTo>
                <a:cubicBezTo>
                  <a:pt x="396379" y="3810385"/>
                  <a:pt x="396379" y="3810385"/>
                  <a:pt x="396379" y="3810385"/>
                </a:cubicBezTo>
                <a:cubicBezTo>
                  <a:pt x="414524" y="3775781"/>
                  <a:pt x="464425" y="3748096"/>
                  <a:pt x="505253" y="3748096"/>
                </a:cubicBezTo>
                <a:close/>
                <a:moveTo>
                  <a:pt x="3345172" y="1393265"/>
                </a:moveTo>
                <a:lnTo>
                  <a:pt x="3478742" y="1393265"/>
                </a:lnTo>
                <a:cubicBezTo>
                  <a:pt x="5112069" y="1393265"/>
                  <a:pt x="5112069" y="1393265"/>
                  <a:pt x="5112069" y="1393265"/>
                </a:cubicBezTo>
                <a:cubicBezTo>
                  <a:pt x="5223096" y="1393265"/>
                  <a:pt x="5366783" y="1470716"/>
                  <a:pt x="5425562" y="1567527"/>
                </a:cubicBezTo>
                <a:cubicBezTo>
                  <a:pt x="6522794" y="3445673"/>
                  <a:pt x="6522794" y="3445673"/>
                  <a:pt x="6522794" y="3445673"/>
                </a:cubicBezTo>
                <a:cubicBezTo>
                  <a:pt x="6575045" y="3548938"/>
                  <a:pt x="6575045" y="3703836"/>
                  <a:pt x="6522794" y="3807103"/>
                </a:cubicBezTo>
                <a:cubicBezTo>
                  <a:pt x="5425562" y="5685248"/>
                  <a:pt x="5425562" y="5685248"/>
                  <a:pt x="5425562" y="5685248"/>
                </a:cubicBezTo>
                <a:cubicBezTo>
                  <a:pt x="5366783" y="5782062"/>
                  <a:pt x="5223096" y="5859509"/>
                  <a:pt x="5112069" y="5859509"/>
                </a:cubicBezTo>
                <a:lnTo>
                  <a:pt x="2917602" y="5859509"/>
                </a:lnTo>
                <a:cubicBezTo>
                  <a:pt x="2800043" y="5859509"/>
                  <a:pt x="2656358" y="5782062"/>
                  <a:pt x="2604110" y="5685248"/>
                </a:cubicBezTo>
                <a:cubicBezTo>
                  <a:pt x="1506877" y="3807103"/>
                  <a:pt x="1506877" y="3807103"/>
                  <a:pt x="1506877" y="3807103"/>
                </a:cubicBezTo>
                <a:cubicBezTo>
                  <a:pt x="1448094" y="3703836"/>
                  <a:pt x="1448094" y="3548938"/>
                  <a:pt x="1506877" y="3445673"/>
                </a:cubicBezTo>
                <a:cubicBezTo>
                  <a:pt x="1575454" y="3328288"/>
                  <a:pt x="1639745" y="3218241"/>
                  <a:pt x="1700018" y="3115072"/>
                </a:cubicBezTo>
                <a:lnTo>
                  <a:pt x="1782566" y="2973774"/>
                </a:lnTo>
                <a:lnTo>
                  <a:pt x="2820879" y="2973774"/>
                </a:lnTo>
                <a:cubicBezTo>
                  <a:pt x="2877856" y="2973774"/>
                  <a:pt x="2951594" y="2934029"/>
                  <a:pt x="2981759" y="2884346"/>
                </a:cubicBezTo>
                <a:cubicBezTo>
                  <a:pt x="2981759" y="2884346"/>
                  <a:pt x="2981759" y="2884346"/>
                  <a:pt x="3544837" y="1920516"/>
                </a:cubicBezTo>
                <a:cubicBezTo>
                  <a:pt x="3571651" y="1867522"/>
                  <a:pt x="3571651" y="1788031"/>
                  <a:pt x="3544837" y="1735036"/>
                </a:cubicBezTo>
                <a:cubicBezTo>
                  <a:pt x="3544837" y="1735036"/>
                  <a:pt x="3544837" y="1735036"/>
                  <a:pt x="3361865" y="1421838"/>
                </a:cubicBezTo>
                <a:close/>
                <a:moveTo>
                  <a:pt x="1756519" y="778062"/>
                </a:moveTo>
                <a:cubicBezTo>
                  <a:pt x="2758795" y="778062"/>
                  <a:pt x="2758795" y="778062"/>
                  <a:pt x="2758795" y="778062"/>
                </a:cubicBezTo>
                <a:cubicBezTo>
                  <a:pt x="2809505" y="778062"/>
                  <a:pt x="2875130" y="814468"/>
                  <a:pt x="2901976" y="859976"/>
                </a:cubicBezTo>
                <a:cubicBezTo>
                  <a:pt x="3403112" y="1742826"/>
                  <a:pt x="3403112" y="1742826"/>
                  <a:pt x="3403112" y="1742826"/>
                </a:cubicBezTo>
                <a:cubicBezTo>
                  <a:pt x="3426977" y="1791369"/>
                  <a:pt x="3426977" y="1864181"/>
                  <a:pt x="3403112" y="1912724"/>
                </a:cubicBezTo>
                <a:cubicBezTo>
                  <a:pt x="2901976" y="2795573"/>
                  <a:pt x="2901976" y="2795573"/>
                  <a:pt x="2901976" y="2795573"/>
                </a:cubicBezTo>
                <a:cubicBezTo>
                  <a:pt x="2875130" y="2841081"/>
                  <a:pt x="2809505" y="2877487"/>
                  <a:pt x="2758795" y="2877487"/>
                </a:cubicBezTo>
                <a:lnTo>
                  <a:pt x="1756519" y="2877487"/>
                </a:lnTo>
                <a:cubicBezTo>
                  <a:pt x="1702827" y="2877487"/>
                  <a:pt x="1637203" y="2841081"/>
                  <a:pt x="1613339" y="2795573"/>
                </a:cubicBezTo>
                <a:cubicBezTo>
                  <a:pt x="1112202" y="1912724"/>
                  <a:pt x="1112202" y="1912724"/>
                  <a:pt x="1112202" y="1912724"/>
                </a:cubicBezTo>
                <a:cubicBezTo>
                  <a:pt x="1085354" y="1864181"/>
                  <a:pt x="1085354" y="1791369"/>
                  <a:pt x="1112202" y="1742826"/>
                </a:cubicBezTo>
                <a:cubicBezTo>
                  <a:pt x="1613339" y="859976"/>
                  <a:pt x="1613339" y="859976"/>
                  <a:pt x="1613339" y="859976"/>
                </a:cubicBezTo>
                <a:cubicBezTo>
                  <a:pt x="1637203" y="814468"/>
                  <a:pt x="1702827" y="778062"/>
                  <a:pt x="1756519" y="778062"/>
                </a:cubicBezTo>
                <a:close/>
                <a:moveTo>
                  <a:pt x="3339833" y="0"/>
                </a:moveTo>
                <a:cubicBezTo>
                  <a:pt x="3952099" y="0"/>
                  <a:pt x="3952099" y="0"/>
                  <a:pt x="3952099" y="0"/>
                </a:cubicBezTo>
                <a:cubicBezTo>
                  <a:pt x="3983077" y="0"/>
                  <a:pt x="4023167" y="22241"/>
                  <a:pt x="4039566" y="50040"/>
                </a:cubicBezTo>
                <a:cubicBezTo>
                  <a:pt x="4345699" y="589353"/>
                  <a:pt x="4345699" y="589353"/>
                  <a:pt x="4345699" y="589353"/>
                </a:cubicBezTo>
                <a:cubicBezTo>
                  <a:pt x="4360277" y="619005"/>
                  <a:pt x="4360277" y="663484"/>
                  <a:pt x="4345699" y="693138"/>
                </a:cubicBezTo>
                <a:cubicBezTo>
                  <a:pt x="4039566" y="1232450"/>
                  <a:pt x="4039566" y="1232450"/>
                  <a:pt x="4039566" y="1232450"/>
                </a:cubicBezTo>
                <a:cubicBezTo>
                  <a:pt x="4023167" y="1260251"/>
                  <a:pt x="3983077" y="1282490"/>
                  <a:pt x="3952099" y="1282490"/>
                </a:cubicBezTo>
                <a:lnTo>
                  <a:pt x="3339833" y="1282490"/>
                </a:lnTo>
                <a:cubicBezTo>
                  <a:pt x="3307033" y="1282490"/>
                  <a:pt x="3266945" y="1260251"/>
                  <a:pt x="3252368" y="1232450"/>
                </a:cubicBezTo>
                <a:cubicBezTo>
                  <a:pt x="2946235" y="693138"/>
                  <a:pt x="2946235" y="693138"/>
                  <a:pt x="2946235" y="693138"/>
                </a:cubicBezTo>
                <a:cubicBezTo>
                  <a:pt x="2929834" y="663484"/>
                  <a:pt x="2929834" y="619005"/>
                  <a:pt x="2946235" y="589353"/>
                </a:cubicBezTo>
                <a:cubicBezTo>
                  <a:pt x="3252368" y="50040"/>
                  <a:pt x="3252368" y="50040"/>
                  <a:pt x="3252368" y="50040"/>
                </a:cubicBezTo>
                <a:cubicBezTo>
                  <a:pt x="3266945" y="22241"/>
                  <a:pt x="3307033" y="0"/>
                  <a:pt x="3339833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9395888-307A-AE81-CF93-0DA915F5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851517"/>
            <a:ext cx="5130800" cy="1461778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chemeClr val="tx2"/>
                </a:solidFill>
              </a:rPr>
              <a:t>Podobne rozwiązania na rynku</a:t>
            </a:r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0630E720-72AC-6069-5711-5FE3CA103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9935" y="749173"/>
            <a:ext cx="794443" cy="794443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1DEB04-87EC-29A5-37F3-3D4ABCF17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693920" cy="3536236"/>
          </a:xfrm>
        </p:spPr>
        <p:txBody>
          <a:bodyPr>
            <a:normAutofit/>
          </a:bodyPr>
          <a:lstStyle/>
          <a:p>
            <a:r>
              <a:rPr lang="pl-PL" sz="2400" dirty="0" err="1"/>
              <a:t>Gimp</a:t>
            </a:r>
            <a:endParaRPr lang="pl-PL" sz="2400" dirty="0"/>
          </a:p>
          <a:p>
            <a:r>
              <a:rPr lang="pl-PL" sz="2400" dirty="0" err="1"/>
              <a:t>Snapseed</a:t>
            </a:r>
            <a:endParaRPr lang="pl-PL" sz="2400" dirty="0"/>
          </a:p>
          <a:p>
            <a:r>
              <a:rPr lang="pl-PL" sz="2400" dirty="0" err="1"/>
              <a:t>InShot</a:t>
            </a:r>
            <a:endParaRPr lang="pl-PL" sz="2400" dirty="0"/>
          </a:p>
          <a:p>
            <a:r>
              <a:rPr lang="pl-PL" sz="2400" dirty="0" err="1"/>
              <a:t>Picsart</a:t>
            </a:r>
            <a:endParaRPr lang="pl-PL" sz="2400" dirty="0"/>
          </a:p>
        </p:txBody>
      </p:sp>
      <p:pic>
        <p:nvPicPr>
          <p:cNvPr id="7" name="Grafika 6">
            <a:extLst>
              <a:ext uri="{FF2B5EF4-FFF2-40B4-BE49-F238E27FC236}">
                <a16:creationId xmlns:a16="http://schemas.microsoft.com/office/drawing/2014/main" id="{8E1CF78F-ED4C-6A62-C4DE-C607D0755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1243" y="1712794"/>
            <a:ext cx="1292047" cy="1292047"/>
          </a:xfrm>
          <a:prstGeom prst="rect">
            <a:avLst/>
          </a:prstGeom>
        </p:spPr>
      </p:pic>
      <p:pic>
        <p:nvPicPr>
          <p:cNvPr id="5" name="Grafika 4">
            <a:extLst>
              <a:ext uri="{FF2B5EF4-FFF2-40B4-BE49-F238E27FC236}">
                <a16:creationId xmlns:a16="http://schemas.microsoft.com/office/drawing/2014/main" id="{C76D210C-0BAE-6ABD-4346-09131864CB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1851" y="4541746"/>
            <a:ext cx="981230" cy="981230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EEBE09CC-086A-B591-1005-3FC82FAAD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6507" y="2972556"/>
            <a:ext cx="2512241" cy="251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9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3153A11-1312-CCB6-B5BB-D614610B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493" y="323850"/>
            <a:ext cx="4620584" cy="6386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</a:rPr>
              <a:t>Analiza SWOT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DEF8D797-E4F1-C351-D347-C8DD95C6C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965" y="962454"/>
            <a:ext cx="5839640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62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7DD3FE6-D672-06A0-93C4-97D1B64B1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chemeClr val="tx2"/>
                </a:solidFill>
              </a:rPr>
              <a:t>Przykładowy scenariusz użycia proponowanego systemu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E2F7E6-A07E-F7CF-3B51-7F2E2F047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2421682"/>
            <a:ext cx="5313415" cy="3921967"/>
          </a:xfrm>
        </p:spPr>
        <p:txBody>
          <a:bodyPr anchor="t">
            <a:normAutofit/>
          </a:bodyPr>
          <a:lstStyle/>
          <a:p>
            <a:r>
              <a:rPr lang="pl-PL" sz="1600" dirty="0">
                <a:solidFill>
                  <a:schemeClr val="tx2"/>
                </a:solidFill>
              </a:rPr>
              <a:t>Selekcja zdjęcia, które chce się edytować.</a:t>
            </a:r>
          </a:p>
          <a:p>
            <a:r>
              <a:rPr lang="pl-PL" sz="1600" dirty="0">
                <a:solidFill>
                  <a:schemeClr val="tx2"/>
                </a:solidFill>
              </a:rPr>
              <a:t>Zastanowienie się, co chcę osiągnąć ze swoim zdjęciem?</a:t>
            </a:r>
          </a:p>
          <a:p>
            <a:r>
              <a:rPr lang="pl-PL" sz="1600" dirty="0">
                <a:solidFill>
                  <a:schemeClr val="tx2"/>
                </a:solidFill>
              </a:rPr>
              <a:t>Zastanowienie się, jakich efektów chce użyć do tego?</a:t>
            </a:r>
          </a:p>
          <a:p>
            <a:r>
              <a:rPr lang="pl-PL" sz="1600" dirty="0">
                <a:solidFill>
                  <a:schemeClr val="tx2"/>
                </a:solidFill>
              </a:rPr>
              <a:t>Załadowanie zdjęcia do aplikacji.</a:t>
            </a:r>
          </a:p>
          <a:p>
            <a:r>
              <a:rPr lang="pl-PL" sz="1600" dirty="0">
                <a:solidFill>
                  <a:schemeClr val="tx2"/>
                </a:solidFill>
              </a:rPr>
              <a:t>Edycja parametrów zdjęcia (kontrast, barwy)</a:t>
            </a:r>
          </a:p>
          <a:p>
            <a:r>
              <a:rPr lang="pl-PL" sz="1600" dirty="0">
                <a:solidFill>
                  <a:schemeClr val="tx2"/>
                </a:solidFill>
              </a:rPr>
              <a:t>Wybór specjalnych efektów.</a:t>
            </a:r>
          </a:p>
          <a:p>
            <a:r>
              <a:rPr lang="pl-PL" sz="1600" dirty="0">
                <a:solidFill>
                  <a:schemeClr val="tx2"/>
                </a:solidFill>
              </a:rPr>
              <a:t>Zakończenie edycji.</a:t>
            </a:r>
          </a:p>
          <a:p>
            <a:r>
              <a:rPr lang="pl-PL" sz="1600" dirty="0">
                <a:solidFill>
                  <a:schemeClr val="tx2"/>
                </a:solidFill>
              </a:rPr>
              <a:t>Zapisanie edytowanego zdjęcia na dysku.</a:t>
            </a:r>
            <a:endParaRPr lang="pl-PL" sz="1400" dirty="0">
              <a:solidFill>
                <a:schemeClr val="tx2"/>
              </a:solidFill>
            </a:endParaRPr>
          </a:p>
          <a:p>
            <a:endParaRPr lang="pl-PL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Grafika 4" descr="Schemat blokowy kontur">
            <a:extLst>
              <a:ext uri="{FF2B5EF4-FFF2-40B4-BE49-F238E27FC236}">
                <a16:creationId xmlns:a16="http://schemas.microsoft.com/office/drawing/2014/main" id="{FAF8ABEA-D2B3-98BA-6AFF-34DF191E7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2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8506F2-B065-82D5-0464-82212891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741"/>
            <a:ext cx="3999971" cy="1690798"/>
          </a:xfrm>
        </p:spPr>
        <p:txBody>
          <a:bodyPr>
            <a:normAutofit/>
          </a:bodyPr>
          <a:lstStyle/>
          <a:p>
            <a:r>
              <a:rPr lang="pl-PL" sz="2800" dirty="0">
                <a:solidFill>
                  <a:schemeClr val="tx2"/>
                </a:solidFill>
              </a:rPr>
              <a:t>Proponowane rozwiązania IT do zastosowania </a:t>
            </a:r>
            <a:br>
              <a:rPr lang="pl-PL" sz="2800" dirty="0">
                <a:solidFill>
                  <a:schemeClr val="tx2"/>
                </a:solidFill>
              </a:rPr>
            </a:br>
            <a:r>
              <a:rPr lang="pl-PL" sz="2800" dirty="0">
                <a:solidFill>
                  <a:schemeClr val="tx2"/>
                </a:solidFill>
              </a:rPr>
              <a:t>w projekcie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E4573EA-66BE-8605-DA46-FF12A3FFC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0475"/>
            <a:ext cx="3999971" cy="3721829"/>
          </a:xfrm>
        </p:spPr>
        <p:txBody>
          <a:bodyPr>
            <a:normAutofit/>
          </a:bodyPr>
          <a:lstStyle/>
          <a:p>
            <a:r>
              <a:rPr lang="pl-PL" sz="2000" dirty="0"/>
              <a:t>Język programowania: </a:t>
            </a:r>
            <a:r>
              <a:rPr lang="pl-PL" sz="2000" dirty="0" err="1"/>
              <a:t>Python</a:t>
            </a:r>
            <a:endParaRPr lang="pl-PL" sz="2000" dirty="0"/>
          </a:p>
          <a:p>
            <a:r>
              <a:rPr lang="pl-PL" sz="2000" dirty="0"/>
              <a:t>Środowisko programistyczne: </a:t>
            </a:r>
            <a:r>
              <a:rPr lang="pl-PL" sz="2000" dirty="0" err="1"/>
              <a:t>Pycharm</a:t>
            </a:r>
            <a:endParaRPr lang="pl-PL" sz="2000" dirty="0"/>
          </a:p>
          <a:p>
            <a:r>
              <a:rPr lang="pl-PL" sz="2000" dirty="0"/>
              <a:t>Biblioteki: </a:t>
            </a:r>
            <a:r>
              <a:rPr lang="pl-PL" sz="2000" dirty="0" err="1"/>
              <a:t>Pillow</a:t>
            </a:r>
            <a:r>
              <a:rPr lang="pl-PL" sz="2000" dirty="0"/>
              <a:t>, </a:t>
            </a:r>
            <a:r>
              <a:rPr lang="pl-PL" sz="2000" dirty="0" err="1"/>
              <a:t>OpenCV</a:t>
            </a:r>
            <a:r>
              <a:rPr lang="pl-PL" sz="2000" dirty="0"/>
              <a:t>, </a:t>
            </a:r>
            <a:r>
              <a:rPr lang="pl-PL" sz="2000" dirty="0" err="1"/>
              <a:t>Tkinter</a:t>
            </a:r>
            <a:r>
              <a:rPr lang="pl-PL" sz="2000" dirty="0"/>
              <a:t>, </a:t>
            </a:r>
            <a:r>
              <a:rPr lang="pl-PL" sz="2000" dirty="0" err="1"/>
              <a:t>NumPy</a:t>
            </a:r>
            <a:r>
              <a:rPr lang="pl-PL" sz="2000" dirty="0"/>
              <a:t>, </a:t>
            </a:r>
            <a:r>
              <a:rPr lang="pl-PL" sz="2000" dirty="0" err="1"/>
              <a:t>Matplotlib</a:t>
            </a:r>
            <a:endParaRPr lang="pl-PL" sz="2000" dirty="0"/>
          </a:p>
          <a:p>
            <a:r>
              <a:rPr lang="pl-PL" sz="2000" dirty="0"/>
              <a:t>Inne narzędzia: GitHub, Google Drive, </a:t>
            </a:r>
            <a:r>
              <a:rPr lang="pl-PL" sz="2000" dirty="0" err="1"/>
              <a:t>Notion</a:t>
            </a:r>
            <a:endParaRPr lang="pl-PL" sz="2000" dirty="0"/>
          </a:p>
          <a:p>
            <a:endParaRPr lang="pl-PL" sz="2000" dirty="0"/>
          </a:p>
          <a:p>
            <a:endParaRPr lang="pl-PL" sz="2000" dirty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CF855DF4-C8CF-891B-F5B3-6FF628062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5933" y="581178"/>
            <a:ext cx="3325118" cy="3319028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A7D1C89F-5389-729B-E281-2408EAF74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2469" y="578133"/>
            <a:ext cx="3325118" cy="3325118"/>
          </a:xfrm>
          <a:prstGeom prst="rect">
            <a:avLst/>
          </a:prstGeom>
        </p:spPr>
      </p:pic>
      <p:pic>
        <p:nvPicPr>
          <p:cNvPr id="5" name="Grafika 4">
            <a:extLst>
              <a:ext uri="{FF2B5EF4-FFF2-40B4-BE49-F238E27FC236}">
                <a16:creationId xmlns:a16="http://schemas.microsoft.com/office/drawing/2014/main" id="{3282DFC8-582B-7A82-793A-2FE5575CF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2754" y="4134863"/>
            <a:ext cx="2152419" cy="2152419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7A1036A6-87EB-6B9D-6D23-E290D1E16D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45167" y="4134863"/>
            <a:ext cx="2152419" cy="2152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53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CA4BCD1-F813-4A68-8727-7A3DE67AC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440" y="1049670"/>
            <a:ext cx="1128382" cy="847206"/>
            <a:chOff x="7393391" y="1075612"/>
            <a:chExt cx="1128382" cy="847206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A6F8ABB-6C5D-4349-9E1B-198D1ABF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9641" y="2134209"/>
            <a:ext cx="4840399" cy="4290450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E4B9AB89-BA23-4985-97B3-EB677E496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0608" y="421767"/>
            <a:ext cx="2847251" cy="2523756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Grafika 6" descr="Sieć online kontur">
            <a:extLst>
              <a:ext uri="{FF2B5EF4-FFF2-40B4-BE49-F238E27FC236}">
                <a16:creationId xmlns:a16="http://schemas.microsoft.com/office/drawing/2014/main" id="{CE643EEA-10CA-DE91-8FBD-3195D7FE6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8862" y="888274"/>
            <a:ext cx="1590742" cy="1590742"/>
          </a:xfrm>
          <a:prstGeom prst="rect">
            <a:avLst/>
          </a:prstGeom>
        </p:spPr>
      </p:pic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36FC9198-E7C0-476E-AEEA-E406CF30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8854" y="4490695"/>
            <a:ext cx="2071275" cy="1835943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Grafika 4" descr="Obliczenia w chmurze kontur">
            <a:extLst>
              <a:ext uri="{FF2B5EF4-FFF2-40B4-BE49-F238E27FC236}">
                <a16:creationId xmlns:a16="http://schemas.microsoft.com/office/drawing/2014/main" id="{CD662AAB-264F-C742-3320-3B0F505DC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1163" y="4805338"/>
            <a:ext cx="1206656" cy="1206656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E6D8E374-8612-4902-FB1C-E0E942B3E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440" y="2054960"/>
            <a:ext cx="4432438" cy="37533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pl-PL" sz="2000" dirty="0">
                <a:solidFill>
                  <a:schemeClr val="tx2"/>
                </a:solidFill>
              </a:rPr>
              <a:t>Warstwa interfejsu użytkownika: </a:t>
            </a:r>
            <a:br>
              <a:rPr lang="pl-PL" sz="2000" dirty="0">
                <a:solidFill>
                  <a:schemeClr val="tx2"/>
                </a:solidFill>
              </a:rPr>
            </a:br>
            <a:r>
              <a:rPr lang="pl-PL" sz="2000" dirty="0">
                <a:solidFill>
                  <a:schemeClr val="tx2"/>
                </a:solidFill>
              </a:rPr>
              <a:t>Zrealizowana w bibliotece </a:t>
            </a:r>
            <a:r>
              <a:rPr lang="pl-PL" sz="2000" dirty="0" err="1">
                <a:solidFill>
                  <a:schemeClr val="tx2"/>
                </a:solidFill>
              </a:rPr>
              <a:t>Tkinter</a:t>
            </a:r>
            <a:r>
              <a:rPr lang="pl-PL" sz="2000" dirty="0">
                <a:solidFill>
                  <a:schemeClr val="tx2"/>
                </a:solidFill>
              </a:rPr>
              <a:t>.</a:t>
            </a:r>
            <a:br>
              <a:rPr lang="pl-PL" sz="2000" dirty="0">
                <a:solidFill>
                  <a:schemeClr val="tx2"/>
                </a:solidFill>
              </a:rPr>
            </a:br>
            <a:br>
              <a:rPr lang="pl-PL" sz="2000" dirty="0">
                <a:solidFill>
                  <a:schemeClr val="tx2"/>
                </a:solidFill>
              </a:rPr>
            </a:br>
            <a:r>
              <a:rPr lang="pl-PL" sz="2000" dirty="0">
                <a:solidFill>
                  <a:schemeClr val="tx2"/>
                </a:solidFill>
              </a:rPr>
              <a:t>Warstwa logiki biznesowej: </a:t>
            </a:r>
            <a:br>
              <a:rPr lang="pl-PL" sz="2000" dirty="0">
                <a:solidFill>
                  <a:schemeClr val="tx2"/>
                </a:solidFill>
              </a:rPr>
            </a:br>
            <a:r>
              <a:rPr lang="pl-PL" sz="2000" dirty="0">
                <a:solidFill>
                  <a:schemeClr val="tx2"/>
                </a:solidFill>
              </a:rPr>
              <a:t>Implementuje funkcje przetwarzania obrazu i wykorzystuje biblioteki </a:t>
            </a:r>
            <a:r>
              <a:rPr lang="pl-PL" sz="2000" dirty="0" err="1">
                <a:solidFill>
                  <a:schemeClr val="tx2"/>
                </a:solidFill>
              </a:rPr>
              <a:t>Pillow</a:t>
            </a:r>
            <a:r>
              <a:rPr lang="pl-PL" sz="2000" dirty="0">
                <a:solidFill>
                  <a:schemeClr val="tx2"/>
                </a:solidFill>
              </a:rPr>
              <a:t> i </a:t>
            </a:r>
            <a:r>
              <a:rPr lang="pl-PL" sz="2000" dirty="0" err="1">
                <a:solidFill>
                  <a:schemeClr val="tx2"/>
                </a:solidFill>
              </a:rPr>
              <a:t>NumPy</a:t>
            </a:r>
            <a:r>
              <a:rPr lang="pl-PL" sz="2000" dirty="0">
                <a:solidFill>
                  <a:schemeClr val="tx2"/>
                </a:solidFill>
              </a:rPr>
              <a:t>.</a:t>
            </a:r>
            <a:br>
              <a:rPr lang="pl-PL" sz="2000" dirty="0">
                <a:solidFill>
                  <a:schemeClr val="tx2"/>
                </a:solidFill>
              </a:rPr>
            </a:br>
            <a:br>
              <a:rPr lang="pl-PL" sz="2000" dirty="0">
                <a:solidFill>
                  <a:schemeClr val="tx2"/>
                </a:solidFill>
              </a:rPr>
            </a:br>
            <a:r>
              <a:rPr lang="pl-PL" sz="2000" dirty="0">
                <a:solidFill>
                  <a:schemeClr val="tx2"/>
                </a:solidFill>
              </a:rPr>
              <a:t>Warstwa danych: </a:t>
            </a:r>
            <a:br>
              <a:rPr lang="pl-PL" sz="2000" dirty="0">
                <a:solidFill>
                  <a:schemeClr val="tx2"/>
                </a:solidFill>
              </a:rPr>
            </a:br>
            <a:r>
              <a:rPr lang="pl-PL" sz="2000" dirty="0">
                <a:solidFill>
                  <a:schemeClr val="tx2"/>
                </a:solidFill>
              </a:rPr>
              <a:t>Będzie odpowiadać za operacje na plikach: wczytywanie, zapisywanie, eksport zdjęć.</a:t>
            </a:r>
            <a:br>
              <a:rPr lang="pl-PL" sz="2000" dirty="0">
                <a:solidFill>
                  <a:schemeClr val="tx2"/>
                </a:solidFill>
              </a:rPr>
            </a:br>
            <a:br>
              <a:rPr lang="pl-PL" sz="3200" dirty="0">
                <a:solidFill>
                  <a:schemeClr val="tx2"/>
                </a:solidFill>
              </a:rPr>
            </a:br>
            <a:r>
              <a:rPr lang="pl-PL" sz="3200" dirty="0">
                <a:solidFill>
                  <a:schemeClr val="tx2"/>
                </a:solidFill>
              </a:rPr>
              <a:t>Systemy docelowe: Windows, Linux.</a:t>
            </a:r>
            <a:endParaRPr lang="en-US" sz="3200" dirty="0">
              <a:solidFill>
                <a:schemeClr val="tx2"/>
              </a:solidFill>
            </a:endParaRPr>
          </a:p>
        </p:txBody>
      </p:sp>
      <p:pic>
        <p:nvPicPr>
          <p:cNvPr id="9" name="Grafika 8" descr="Interfejs/środowisko użytkownika kontur">
            <a:extLst>
              <a:ext uri="{FF2B5EF4-FFF2-40B4-BE49-F238E27FC236}">
                <a16:creationId xmlns:a16="http://schemas.microsoft.com/office/drawing/2014/main" id="{E5334169-351E-24DD-1EF6-AFF19D0449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4551" y="3101009"/>
            <a:ext cx="2610579" cy="2610579"/>
          </a:xfrm>
          <a:prstGeom prst="rect">
            <a:avLst/>
          </a:prstGeom>
        </p:spPr>
      </p:pic>
      <p:sp>
        <p:nvSpPr>
          <p:cNvPr id="3" name="Tytuł 1">
            <a:extLst>
              <a:ext uri="{FF2B5EF4-FFF2-40B4-BE49-F238E27FC236}">
                <a16:creationId xmlns:a16="http://schemas.microsoft.com/office/drawing/2014/main" id="{14EDA178-5CB0-A64F-29FA-F8E277AF7B23}"/>
              </a:ext>
            </a:extLst>
          </p:cNvPr>
          <p:cNvSpPr txBox="1">
            <a:spLocks/>
          </p:cNvSpPr>
          <p:nvPr/>
        </p:nvSpPr>
        <p:spPr>
          <a:xfrm>
            <a:off x="441960" y="218409"/>
            <a:ext cx="7050986" cy="258566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>
                <a:solidFill>
                  <a:schemeClr val="tx2"/>
                </a:solidFill>
              </a:rPr>
              <a:t>Techniczna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koncepcja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 err="1">
                <a:solidFill>
                  <a:schemeClr val="tx2"/>
                </a:solidFill>
              </a:rPr>
              <a:t>rozwiązania</a:t>
            </a:r>
            <a:endParaRPr 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69312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289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Podstawy Zarządzania Projektami</vt:lpstr>
      <vt:lpstr>Identyfikacja wizualna „produktu”</vt:lpstr>
      <vt:lpstr>Tytuł projektu:</vt:lpstr>
      <vt:lpstr>Grupa docelowa, czyli kto?</vt:lpstr>
      <vt:lpstr>Jaki problem do rozwiązania? Jaki problem ma grupa docelowa?</vt:lpstr>
      <vt:lpstr>Podobne rozwiązania na rynku</vt:lpstr>
      <vt:lpstr>Analiza SWOT</vt:lpstr>
      <vt:lpstr>Przykładowy scenariusz użycia proponowanego systemu</vt:lpstr>
      <vt:lpstr>Proponowane rozwiązania IT do zastosowania  w projekcie</vt:lpstr>
      <vt:lpstr>Warstwa interfejsu użytkownika:  Zrealizowana w bibliotece Tkinter.  Warstwa logiki biznesowej:  Implementuje funkcje przetwarzania obrazu i wykorzystuje biblioteki Pillow i NumPy.  Warstwa danych:  Będzie odpowiadać za operacje na plikach: wczytywanie, zapisywanie, eksport zdjęć.  Systemy docelowe: Windows, Linux.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Krzysztof Grudzień I24</dc:creator>
  <cp:lastModifiedBy>student</cp:lastModifiedBy>
  <cp:revision>25</cp:revision>
  <dcterms:created xsi:type="dcterms:W3CDTF">2022-09-30T11:50:39Z</dcterms:created>
  <dcterms:modified xsi:type="dcterms:W3CDTF">2025-10-28T09:42:02Z</dcterms:modified>
</cp:coreProperties>
</file>