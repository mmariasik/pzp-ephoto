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9"/>
  </p:notesMasterIdLst>
  <p:handoutMasterIdLst>
    <p:handoutMasterId r:id="rId20"/>
  </p:handoutMasterIdLst>
  <p:sldIdLst>
    <p:sldId id="256" r:id="rId5"/>
    <p:sldId id="277" r:id="rId6"/>
    <p:sldId id="295" r:id="rId7"/>
    <p:sldId id="296" r:id="rId8"/>
    <p:sldId id="262" r:id="rId9"/>
    <p:sldId id="297" r:id="rId10"/>
    <p:sldId id="299" r:id="rId11"/>
    <p:sldId id="289" r:id="rId12"/>
    <p:sldId id="282" r:id="rId13"/>
    <p:sldId id="278" r:id="rId14"/>
    <p:sldId id="298" r:id="rId15"/>
    <p:sldId id="261" r:id="rId16"/>
    <p:sldId id="275"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8" autoAdjust="0"/>
    <p:restoredTop sz="94609" autoAdjust="0"/>
  </p:normalViewPr>
  <p:slideViewPr>
    <p:cSldViewPr snapToGrid="0">
      <p:cViewPr varScale="1">
        <p:scale>
          <a:sx n="78" d="100"/>
          <a:sy n="78" d="100"/>
        </p:scale>
        <p:origin x="739" y="43"/>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1/25/2026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US"/>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pl-PL"/>
              <a:t>Kliknij, aby edytować style wzorca tekstu</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pl-PL"/>
              <a:t>Kliknij, aby edytować style wzorca tekstu</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pl-PL"/>
              <a:t>Kliknij, aby edytować style wzorca tekstu</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pl-PL"/>
              <a:t>Kliknij, aby edytować style wzorca tekstu</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pl-PL"/>
              <a:t>Kliknij, aby edytować style wzorca tekstu</a:t>
            </a:r>
          </a:p>
          <a:p>
            <a:pPr lvl="1"/>
            <a:r>
              <a:rPr lang="pl-PL"/>
              <a:t>Drugi poziom</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pl-PL"/>
              <a:t>Kliknij, aby edytować style wzorca tekstu</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Dwa elementy zawartości">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Zawartość">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pl-PL"/>
              <a:t>Kliknij ikonę, aby dodać obraz</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pl-PL"/>
              <a:t>Kliknij ikonę, aby dodać obraz</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pl-PL"/>
              <a:t>Kliknij ikonę, aby dodać obraz</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pl-PL"/>
              <a:t>Kliknij ikonę, aby dodać obraz</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pl-PL"/>
              <a:t>Kliknij ikonę, aby dodać obraz</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pl-PL"/>
              <a:t>Kliknij ikonę, aby dodać obraz</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pl-PL"/>
              <a:t>Kliknij ikonę, aby dodać obraz</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pl-PL"/>
              <a:t>Kliknij ikonę, aby dodać obraz</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pl-PL"/>
              <a:t>Kliknij ikonę, aby dodać obraz</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pl-PL"/>
              <a:t>Kliknij ikonę, aby dodać obraz</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pl-PL"/>
              <a:t>Kliknij ikonę, aby dodać obraz</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pl-PL"/>
              <a:t>Kliknij ikonę, aby dodać obraz</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pl-PL"/>
              <a:t>Kliknij, aby edytować style wzorca tekstu</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pl-PL"/>
              <a:t>Kliknij, aby edytować style wzorca tekstu</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pl-PL"/>
              <a:t>Kliknij, aby edytować style wzorca tekstu</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pl-PL"/>
              <a:t>Kliknij, aby edytować style wzorca tekstu</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US"/>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15.xml"/><Relationship Id="rId4" Type="http://schemas.openxmlformats.org/officeDocument/2006/relationships/image" Target="../media/image3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a:lstStyle/>
          <a:p>
            <a:r>
              <a:rPr lang="en-US" dirty="0"/>
              <a:t>E-PHOTO</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0" y="5557042"/>
            <a:ext cx="4941770" cy="2005780"/>
          </a:xfrm>
        </p:spPr>
        <p:txBody>
          <a:bodyPr>
            <a:normAutofit/>
          </a:bodyPr>
          <a:lstStyle/>
          <a:p>
            <a:r>
              <a:rPr lang="pl-PL" dirty="0"/>
              <a:t>Patryk </a:t>
            </a:r>
            <a:r>
              <a:rPr lang="pl-PL" dirty="0" err="1"/>
              <a:t>Koszlaga</a:t>
            </a:r>
            <a:r>
              <a:rPr lang="pl-PL" dirty="0"/>
              <a:t>, 252801</a:t>
            </a:r>
          </a:p>
          <a:p>
            <a:r>
              <a:rPr lang="pl-PL" dirty="0"/>
              <a:t>Jakub Kozubek, 252806</a:t>
            </a:r>
          </a:p>
          <a:p>
            <a:r>
              <a:rPr lang="pl-PL" dirty="0"/>
              <a:t>Mateusz Mariasik, 251185</a:t>
            </a:r>
          </a:p>
        </p:txBody>
      </p:sp>
      <p:pic>
        <p:nvPicPr>
          <p:cNvPr id="4" name="Obraz 3" descr="Obraz zawierający tekst, logo, Czcionka, symbol&#10;&#10;Zawartość wygenerowana przez AI może być niepoprawna.">
            <a:extLst>
              <a:ext uri="{FF2B5EF4-FFF2-40B4-BE49-F238E27FC236}">
                <a16:creationId xmlns:a16="http://schemas.microsoft.com/office/drawing/2014/main" id="{03F393DC-1661-411F-EC5E-D0B4BC1C94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7806" y="505654"/>
            <a:ext cx="3404194" cy="3404194"/>
          </a:xfrm>
          <a:prstGeom prst="rect">
            <a:avLst/>
          </a:prstGeom>
        </p:spPr>
      </p:pic>
      <p:sp>
        <p:nvSpPr>
          <p:cNvPr id="5" name="Subtitle 2">
            <a:extLst>
              <a:ext uri="{FF2B5EF4-FFF2-40B4-BE49-F238E27FC236}">
                <a16:creationId xmlns:a16="http://schemas.microsoft.com/office/drawing/2014/main" id="{8D5AF854-1160-1139-95C0-1B802D15A257}"/>
              </a:ext>
            </a:extLst>
          </p:cNvPr>
          <p:cNvSpPr txBox="1">
            <a:spLocks/>
          </p:cNvSpPr>
          <p:nvPr/>
        </p:nvSpPr>
        <p:spPr>
          <a:xfrm>
            <a:off x="275794" y="5557042"/>
            <a:ext cx="4941770" cy="200578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lumMod val="75000"/>
                    <a:lumOff val="2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PŁ WEEIA IIS</a:t>
            </a:r>
            <a:br>
              <a:rPr lang="en-GB" dirty="0"/>
            </a:br>
            <a:r>
              <a:rPr lang="en-GB" dirty="0" err="1"/>
              <a:t>Podstawy</a:t>
            </a:r>
            <a:r>
              <a:rPr lang="en-GB" dirty="0"/>
              <a:t> </a:t>
            </a:r>
            <a:r>
              <a:rPr lang="en-GB" dirty="0" err="1"/>
              <a:t>Zarządzania</a:t>
            </a:r>
            <a:r>
              <a:rPr lang="en-GB" dirty="0"/>
              <a:t> </a:t>
            </a:r>
            <a:r>
              <a:rPr lang="en-GB" dirty="0" err="1"/>
              <a:t>Projektami</a:t>
            </a:r>
            <a:endParaRPr lang="en-GB" dirty="0"/>
          </a:p>
          <a:p>
            <a:r>
              <a:rPr lang="en-GB" dirty="0"/>
              <a:t>III </a:t>
            </a:r>
            <a:r>
              <a:rPr lang="en-GB" dirty="0" err="1"/>
              <a:t>rok</a:t>
            </a:r>
            <a:endParaRPr lang="pl-PL"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083973" y="-65704"/>
            <a:ext cx="3171825" cy="1325563"/>
          </a:xfrm>
        </p:spPr>
        <p:txBody>
          <a:bodyPr/>
          <a:lstStyle/>
          <a:p>
            <a:r>
              <a:rPr lang="en-US" dirty="0"/>
              <a:t>MOTYWACJA</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78658" y="1259860"/>
            <a:ext cx="6017341" cy="5461614"/>
          </a:xfrm>
        </p:spPr>
        <p:txBody>
          <a:bodyPr>
            <a:normAutofit/>
          </a:bodyPr>
          <a:lstStyle/>
          <a:p>
            <a:r>
              <a:rPr lang="pl-PL" dirty="0"/>
              <a:t>Decyzja o stworzeniu aplikacji </a:t>
            </a:r>
            <a:r>
              <a:rPr lang="pl-PL" b="1" dirty="0"/>
              <a:t>E-PHOTO</a:t>
            </a:r>
            <a:r>
              <a:rPr lang="pl-PL" dirty="0"/>
              <a:t> wynikła z luki na rynku oprogramowania dla użytkowników nietechnicznych. Analiza rynkowa przeprowadzona przez Klienta wykazała, że większość turystów po powrocie z wakacji nie dzieli się swoimi zdjęciami ani ich nie wywołuje. </a:t>
            </a:r>
            <a:r>
              <a:rPr lang="pl-PL" b="1" dirty="0"/>
              <a:t>Powód:</a:t>
            </a:r>
            <a:r>
              <a:rPr lang="pl-PL" dirty="0"/>
              <a:t> Zdjęcia prosto z aparatu/telefonu często są niedoświetlone, krzywe lub mają "wyblakłe" kolory, a dostępne na rynku narzędzia (typu Photoshop, a nawet darmowy GIMP) są zbyt skomplikowane i onieśmielające dla przeciętnego użytkownika ("Jasia Kowalskiego").</a:t>
            </a:r>
          </a:p>
          <a:p>
            <a:r>
              <a:rPr lang="pl-PL" dirty="0"/>
              <a:t>Celem projektu jest </a:t>
            </a:r>
            <a:r>
              <a:rPr lang="pl-PL" b="1" dirty="0"/>
              <a:t>demokratyzacja edycji zdjęć</a:t>
            </a:r>
            <a:r>
              <a:rPr lang="pl-PL" dirty="0"/>
              <a:t> – dostarczenie narzędzia, które nie wymaga nauki, a pozwala w kilka sekund uzyskać satysfakcjonujący efekt "</a:t>
            </a:r>
            <a:r>
              <a:rPr lang="pl-PL" dirty="0" err="1"/>
              <a:t>wow</a:t>
            </a:r>
            <a:r>
              <a:rPr lang="pl-PL" dirty="0"/>
              <a:t>" na pamiątkowych fotografiach.</a:t>
            </a:r>
          </a:p>
          <a:p>
            <a:endParaRPr lang="en-US" dirty="0"/>
          </a:p>
        </p:txBody>
      </p:sp>
      <p:sp>
        <p:nvSpPr>
          <p:cNvPr id="6" name="Date Placeholder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a:lstStyle/>
          <a:p>
            <a:r>
              <a:rPr lang="en-US" dirty="0"/>
              <a:t>2026</a:t>
            </a:r>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a:lstStyle/>
          <a:p>
            <a:r>
              <a:rPr lang="en-US" dirty="0"/>
              <a:t>E-PHOTO</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3D63-FD8C-F8C8-308C-7DC9DEED2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725E8-F3E7-8D5C-3F0F-34A6B6BF9850}"/>
              </a:ext>
              <a:ext uri="{C183D7F6-B498-43B3-948B-1728B52AA6E4}">
                <adec:decorative xmlns:adec="http://schemas.microsoft.com/office/drawing/2017/decorative" val="0"/>
              </a:ext>
            </a:extLst>
          </p:cNvPr>
          <p:cNvSpPr>
            <a:spLocks noGrp="1"/>
          </p:cNvSpPr>
          <p:nvPr>
            <p:ph type="title"/>
          </p:nvPr>
        </p:nvSpPr>
        <p:spPr>
          <a:xfrm>
            <a:off x="1083973" y="1772929"/>
            <a:ext cx="3171825" cy="1325563"/>
          </a:xfrm>
        </p:spPr>
        <p:txBody>
          <a:bodyPr/>
          <a:lstStyle/>
          <a:p>
            <a:r>
              <a:rPr lang="en-US" dirty="0"/>
              <a:t>Cel </a:t>
            </a:r>
            <a:r>
              <a:rPr lang="en-US" dirty="0" err="1"/>
              <a:t>projektu</a:t>
            </a:r>
            <a:endParaRPr lang="en-US" dirty="0"/>
          </a:p>
        </p:txBody>
      </p:sp>
      <p:sp>
        <p:nvSpPr>
          <p:cNvPr id="3" name="Subtitle 2">
            <a:extLst>
              <a:ext uri="{FF2B5EF4-FFF2-40B4-BE49-F238E27FC236}">
                <a16:creationId xmlns:a16="http://schemas.microsoft.com/office/drawing/2014/main" id="{F458ED8B-00D9-E345-E8BA-A88F4A29B161}"/>
              </a:ext>
              <a:ext uri="{C183D7F6-B498-43B3-948B-1728B52AA6E4}">
                <adec:decorative xmlns:adec="http://schemas.microsoft.com/office/drawing/2017/decorative" val="0"/>
              </a:ext>
            </a:extLst>
          </p:cNvPr>
          <p:cNvSpPr>
            <a:spLocks noGrp="1"/>
          </p:cNvSpPr>
          <p:nvPr>
            <p:ph idx="1"/>
          </p:nvPr>
        </p:nvSpPr>
        <p:spPr>
          <a:xfrm>
            <a:off x="0" y="3098492"/>
            <a:ext cx="6017341" cy="5461614"/>
          </a:xfrm>
        </p:spPr>
        <p:txBody>
          <a:bodyPr>
            <a:normAutofit/>
          </a:bodyPr>
          <a:lstStyle/>
          <a:p>
            <a:r>
              <a:rPr lang="pl-PL" b="1" dirty="0"/>
              <a:t>Celem biznesowym i społecznym projektu jest demokratyzacja cyfrowej obróbki fotografii.</a:t>
            </a:r>
            <a:r>
              <a:rPr lang="pl-PL" dirty="0"/>
              <a:t> Zidentyfikowaliśmy problem polegający na tym, że amatorzy fotografii (klienci biur podróży, turyści) rezygnują z poprawiania swoich zdjęć pamiątkowych z powodu bariery technologicznej. Profesjonalne narzędzia są zbyt skomplikowane i drogie, a brak edycji skutkuje niską jakością archiwizowanych wspomnień (zdjęcia ciemne, nieostre, źle wykadrowane). Naszym celem jest dostarczenie narzędzia, które </a:t>
            </a:r>
            <a:r>
              <a:rPr lang="pl-PL" b="1" dirty="0"/>
              <a:t>usuwa barierę wiedzy technicznej</a:t>
            </a:r>
            <a:r>
              <a:rPr lang="pl-PL" dirty="0"/>
              <a:t>, pozwalając użytkownikowi osiągnąć satysfakcjonujący efekt wizualny w czasie poniżej 10 sekund na zdjęcie, bez konieczności rozumienia zasad histogramu czy krzywych tonalnych.</a:t>
            </a:r>
            <a:endParaRPr lang="en-US" dirty="0"/>
          </a:p>
        </p:txBody>
      </p:sp>
      <p:sp>
        <p:nvSpPr>
          <p:cNvPr id="6" name="Date Placeholder 5">
            <a:extLst>
              <a:ext uri="{FF2B5EF4-FFF2-40B4-BE49-F238E27FC236}">
                <a16:creationId xmlns:a16="http://schemas.microsoft.com/office/drawing/2014/main" id="{C655D9BC-9037-7179-9847-5629916C59D3}"/>
              </a:ext>
            </a:extLst>
          </p:cNvPr>
          <p:cNvSpPr>
            <a:spLocks noGrp="1"/>
          </p:cNvSpPr>
          <p:nvPr>
            <p:ph type="dt" sz="half" idx="10"/>
          </p:nvPr>
        </p:nvSpPr>
        <p:spPr>
          <a:xfrm>
            <a:off x="1333500" y="6356350"/>
            <a:ext cx="985157" cy="365125"/>
          </a:xfrm>
        </p:spPr>
        <p:txBody>
          <a:bodyPr/>
          <a:lstStyle/>
          <a:p>
            <a:r>
              <a:rPr lang="en-US" dirty="0"/>
              <a:t>2026</a:t>
            </a:r>
          </a:p>
        </p:txBody>
      </p:sp>
      <p:sp>
        <p:nvSpPr>
          <p:cNvPr id="5" name="Footer Placeholder 4">
            <a:extLst>
              <a:ext uri="{FF2B5EF4-FFF2-40B4-BE49-F238E27FC236}">
                <a16:creationId xmlns:a16="http://schemas.microsoft.com/office/drawing/2014/main" id="{F3FB12A5-91CF-DC56-A9D0-84E2A17CC7B3}"/>
              </a:ext>
            </a:extLst>
          </p:cNvPr>
          <p:cNvSpPr>
            <a:spLocks noGrp="1"/>
          </p:cNvSpPr>
          <p:nvPr>
            <p:ph type="ftr" sz="quarter" idx="11"/>
          </p:nvPr>
        </p:nvSpPr>
        <p:spPr>
          <a:xfrm>
            <a:off x="2669886" y="6356349"/>
            <a:ext cx="2482842" cy="365125"/>
          </a:xfrm>
        </p:spPr>
        <p:txBody>
          <a:bodyPr/>
          <a:lstStyle/>
          <a:p>
            <a:r>
              <a:rPr lang="en-US" dirty="0"/>
              <a:t>E-PHOTO</a:t>
            </a:r>
          </a:p>
        </p:txBody>
      </p:sp>
      <p:sp>
        <p:nvSpPr>
          <p:cNvPr id="4" name="Slide Number Placeholder 3">
            <a:extLst>
              <a:ext uri="{FF2B5EF4-FFF2-40B4-BE49-F238E27FC236}">
                <a16:creationId xmlns:a16="http://schemas.microsoft.com/office/drawing/2014/main" id="{71F726A9-4F80-9FA4-D562-A2D6DF73E25B}"/>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3</a:t>
            </a:fld>
            <a:endParaRPr lang="en-US" dirty="0"/>
          </a:p>
        </p:txBody>
      </p:sp>
    </p:spTree>
    <p:extLst>
      <p:ext uri="{BB962C8B-B14F-4D97-AF65-F5344CB8AC3E}">
        <p14:creationId xmlns:p14="http://schemas.microsoft.com/office/powerpoint/2010/main" val="766268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32789-4BA2-7039-CF6C-C8B9442EB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2DD30A-4C0E-FF8A-15CB-AC71FB996401}"/>
              </a:ext>
              <a:ext uri="{C183D7F6-B498-43B3-948B-1728B52AA6E4}">
                <adec:decorative xmlns:adec="http://schemas.microsoft.com/office/drawing/2017/decorative" val="0"/>
              </a:ext>
            </a:extLst>
          </p:cNvPr>
          <p:cNvSpPr>
            <a:spLocks noGrp="1"/>
          </p:cNvSpPr>
          <p:nvPr>
            <p:ph type="title"/>
          </p:nvPr>
        </p:nvSpPr>
        <p:spPr>
          <a:xfrm>
            <a:off x="1083973" y="-65704"/>
            <a:ext cx="3171825" cy="1325563"/>
          </a:xfrm>
        </p:spPr>
        <p:txBody>
          <a:bodyPr/>
          <a:lstStyle/>
          <a:p>
            <a:r>
              <a:rPr lang="en-GB" dirty="0" err="1"/>
              <a:t>Rozwiązanie</a:t>
            </a:r>
            <a:endParaRPr lang="en-US" dirty="0"/>
          </a:p>
        </p:txBody>
      </p:sp>
      <p:sp>
        <p:nvSpPr>
          <p:cNvPr id="3" name="Subtitle 2">
            <a:extLst>
              <a:ext uri="{FF2B5EF4-FFF2-40B4-BE49-F238E27FC236}">
                <a16:creationId xmlns:a16="http://schemas.microsoft.com/office/drawing/2014/main" id="{641361A5-A460-CB91-F45B-65EAACD3B00A}"/>
              </a:ext>
              <a:ext uri="{C183D7F6-B498-43B3-948B-1728B52AA6E4}">
                <adec:decorative xmlns:adec="http://schemas.microsoft.com/office/drawing/2017/decorative" val="0"/>
              </a:ext>
            </a:extLst>
          </p:cNvPr>
          <p:cNvSpPr>
            <a:spLocks noGrp="1"/>
          </p:cNvSpPr>
          <p:nvPr>
            <p:ph idx="1"/>
          </p:nvPr>
        </p:nvSpPr>
        <p:spPr>
          <a:xfrm>
            <a:off x="78658" y="1259860"/>
            <a:ext cx="6017341" cy="5461614"/>
          </a:xfrm>
        </p:spPr>
        <p:txBody>
          <a:bodyPr>
            <a:normAutofit/>
          </a:bodyPr>
          <a:lstStyle/>
          <a:p>
            <a:r>
              <a:rPr lang="pl-PL" dirty="0"/>
              <a:t>Odpowiedzią na powyższy problem jest </a:t>
            </a:r>
            <a:r>
              <a:rPr lang="pl-PL" b="1" dirty="0"/>
              <a:t>aplikacja desktopowa "E-PHOTO"</a:t>
            </a:r>
            <a:r>
              <a:rPr lang="pl-PL" dirty="0"/>
              <a:t>. Jest to lekkie oprogramowanie typu "One-</a:t>
            </a:r>
            <a:r>
              <a:rPr lang="pl-PL" dirty="0" err="1"/>
              <a:t>Click</a:t>
            </a:r>
            <a:r>
              <a:rPr lang="pl-PL" dirty="0"/>
              <a:t>-</a:t>
            </a:r>
            <a:r>
              <a:rPr lang="pl-PL" dirty="0" err="1"/>
              <a:t>Fix</a:t>
            </a:r>
            <a:r>
              <a:rPr lang="pl-PL" dirty="0"/>
              <a:t>", zaprojektowane zgodnie z zasadą minimalizmu kognitywnego. Zamiast rozbudowanych paneli sterowania, rozwiązanie oferuje zestaw predefiniowanych algorytmów korekcyjnych i artystycznych. Aplikacja automatyzuje procesy przetwarzania macierzowego obrazu, ukrywając skomplikowaną matematykę za intuicyjnymi przyciskami. Dzięki temu użytkownik otrzymuje natychmiastową gratyfikację w postaci poprawionego zdjęcia, co bezpośrednio realizuje cel projektu – szybką i bezstresową edycję.</a:t>
            </a:r>
            <a:endParaRPr lang="en-US" dirty="0"/>
          </a:p>
        </p:txBody>
      </p:sp>
      <p:sp>
        <p:nvSpPr>
          <p:cNvPr id="6" name="Date Placeholder 5">
            <a:extLst>
              <a:ext uri="{FF2B5EF4-FFF2-40B4-BE49-F238E27FC236}">
                <a16:creationId xmlns:a16="http://schemas.microsoft.com/office/drawing/2014/main" id="{B26DD516-BE76-BC86-4807-0014CDD66BC2}"/>
              </a:ext>
            </a:extLst>
          </p:cNvPr>
          <p:cNvSpPr>
            <a:spLocks noGrp="1"/>
          </p:cNvSpPr>
          <p:nvPr>
            <p:ph type="dt" sz="half" idx="10"/>
          </p:nvPr>
        </p:nvSpPr>
        <p:spPr>
          <a:xfrm>
            <a:off x="1333500" y="6356350"/>
            <a:ext cx="985157" cy="365125"/>
          </a:xfrm>
        </p:spPr>
        <p:txBody>
          <a:bodyPr/>
          <a:lstStyle/>
          <a:p>
            <a:r>
              <a:rPr lang="en-US" dirty="0"/>
              <a:t>2026</a:t>
            </a:r>
          </a:p>
        </p:txBody>
      </p:sp>
      <p:sp>
        <p:nvSpPr>
          <p:cNvPr id="5" name="Footer Placeholder 4">
            <a:extLst>
              <a:ext uri="{FF2B5EF4-FFF2-40B4-BE49-F238E27FC236}">
                <a16:creationId xmlns:a16="http://schemas.microsoft.com/office/drawing/2014/main" id="{EC72A3AC-088D-EF99-7459-70CBD2B075B5}"/>
              </a:ext>
            </a:extLst>
          </p:cNvPr>
          <p:cNvSpPr>
            <a:spLocks noGrp="1"/>
          </p:cNvSpPr>
          <p:nvPr>
            <p:ph type="ftr" sz="quarter" idx="11"/>
          </p:nvPr>
        </p:nvSpPr>
        <p:spPr>
          <a:xfrm>
            <a:off x="2669886" y="6356349"/>
            <a:ext cx="2482842" cy="365125"/>
          </a:xfrm>
        </p:spPr>
        <p:txBody>
          <a:bodyPr/>
          <a:lstStyle/>
          <a:p>
            <a:r>
              <a:rPr lang="en-US" dirty="0"/>
              <a:t>E-PHOTO</a:t>
            </a:r>
          </a:p>
        </p:txBody>
      </p:sp>
      <p:sp>
        <p:nvSpPr>
          <p:cNvPr id="4" name="Slide Number Placeholder 3">
            <a:extLst>
              <a:ext uri="{FF2B5EF4-FFF2-40B4-BE49-F238E27FC236}">
                <a16:creationId xmlns:a16="http://schemas.microsoft.com/office/drawing/2014/main" id="{097FA81C-32BF-2FD2-ADD6-60D092C08816}"/>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4</a:t>
            </a:fld>
            <a:endParaRPr lang="en-US" dirty="0"/>
          </a:p>
        </p:txBody>
      </p:sp>
    </p:spTree>
    <p:extLst>
      <p:ext uri="{BB962C8B-B14F-4D97-AF65-F5344CB8AC3E}">
        <p14:creationId xmlns:p14="http://schemas.microsoft.com/office/powerpoint/2010/main" val="2159111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541968"/>
            <a:ext cx="8421688" cy="1325563"/>
          </a:xfrm>
        </p:spPr>
        <p:txBody>
          <a:bodyPr/>
          <a:lstStyle/>
          <a:p>
            <a:r>
              <a:rPr lang="en-GB" dirty="0" err="1"/>
              <a:t>Architektura</a:t>
            </a:r>
            <a:r>
              <a:rPr lang="en-GB" dirty="0"/>
              <a:t> </a:t>
            </a:r>
            <a:r>
              <a:rPr lang="en-GB" dirty="0" err="1"/>
              <a:t>rozwiązania</a:t>
            </a:r>
            <a:endParaRPr lang="en-US" dirty="0"/>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24605" y="3147111"/>
            <a:ext cx="4031945" cy="365125"/>
          </a:xfrm>
        </p:spPr>
        <p:txBody>
          <a:bodyPr vert="horz" lIns="91440" tIns="45720" rIns="91440" bIns="45720" rtlCol="0" anchor="t">
            <a:normAutofit lnSpcReduction="10000"/>
          </a:bodyPr>
          <a:lstStyle/>
          <a:p>
            <a:r>
              <a:rPr lang="en-GB" dirty="0"/>
              <a:t>Frontend (GUI)</a:t>
            </a:r>
            <a:endParaRPr lang="en-US" dirty="0"/>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24841" y="3654336"/>
            <a:ext cx="4031030" cy="1057308"/>
          </a:xfrm>
        </p:spPr>
        <p:txBody>
          <a:bodyPr>
            <a:normAutofit lnSpcReduction="10000"/>
          </a:bodyPr>
          <a:lstStyle/>
          <a:p>
            <a:r>
              <a:rPr lang="pl-PL" dirty="0"/>
              <a:t>Zbudowany w oparciu o bibliotekę </a:t>
            </a:r>
            <a:r>
              <a:rPr lang="pl-PL" dirty="0" err="1"/>
              <a:t>CustomTkinter</a:t>
            </a:r>
            <a:r>
              <a:rPr lang="pl-PL" dirty="0"/>
              <a:t>. Odpowiada za interakcję z użytkownikiem, wyświetlanie podglądu w czasie rzeczywistym oraz skalowanie obrazu do okna aplikacji (</a:t>
            </a:r>
            <a:r>
              <a:rPr lang="pl-PL" dirty="0" err="1"/>
              <a:t>responsywność</a:t>
            </a:r>
            <a:r>
              <a:rPr lang="pl-PL" dirty="0"/>
              <a:t>)</a:t>
            </a:r>
            <a:r>
              <a:rPr lang="en-GB" dirty="0"/>
              <a:t>.</a:t>
            </a:r>
            <a:endParaRPr lang="en-US" dirty="0"/>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16"/>
          </p:nvPr>
        </p:nvSpPr>
        <p:spPr>
          <a:xfrm>
            <a:off x="4007457" y="3147111"/>
            <a:ext cx="4031945" cy="365125"/>
          </a:xfrm>
        </p:spPr>
        <p:txBody>
          <a:bodyPr>
            <a:normAutofit lnSpcReduction="10000"/>
          </a:bodyPr>
          <a:lstStyle/>
          <a:p>
            <a:r>
              <a:rPr lang="en-GB" dirty="0"/>
              <a:t>Backend (Core Logic)</a:t>
            </a:r>
            <a:endParaRPr lang="en-US" dirty="0"/>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17"/>
          </p:nvPr>
        </p:nvSpPr>
        <p:spPr>
          <a:xfrm>
            <a:off x="4067607" y="3582420"/>
            <a:ext cx="4031030" cy="1057308"/>
          </a:xfrm>
        </p:spPr>
        <p:txBody>
          <a:bodyPr/>
          <a:lstStyle/>
          <a:p>
            <a:r>
              <a:rPr lang="pl-PL" dirty="0"/>
              <a:t>Silnik przetwarzania oparty na bibliotece </a:t>
            </a:r>
            <a:r>
              <a:rPr lang="pl-PL" dirty="0" err="1"/>
              <a:t>Pillow</a:t>
            </a:r>
            <a:r>
              <a:rPr lang="pl-PL" dirty="0"/>
              <a:t> (PIL). Odpowiada za operacje na pikselach, transformacje geometryczne oraz zarządzanie pamięcią (buforowanie historii zmian).</a:t>
            </a:r>
            <a:endParaRPr lang="en-US" dirty="0"/>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3"/>
          </p:nvPr>
        </p:nvSpPr>
        <p:spPr>
          <a:xfrm>
            <a:off x="8160055" y="3147111"/>
            <a:ext cx="4031945" cy="365125"/>
          </a:xfrm>
        </p:spPr>
        <p:txBody>
          <a:bodyPr>
            <a:normAutofit lnSpcReduction="10000"/>
          </a:bodyPr>
          <a:lstStyle/>
          <a:p>
            <a:r>
              <a:rPr lang="en-GB" dirty="0" err="1"/>
              <a:t>Zarządzanie</a:t>
            </a:r>
            <a:r>
              <a:rPr lang="en-GB" dirty="0"/>
              <a:t> </a:t>
            </a:r>
            <a:r>
              <a:rPr lang="en-GB" dirty="0" err="1"/>
              <a:t>stanem</a:t>
            </a:r>
            <a:endParaRPr lang="en-US" dirty="0"/>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4"/>
          </p:nvPr>
        </p:nvSpPr>
        <p:spPr>
          <a:xfrm>
            <a:off x="8160568" y="3654336"/>
            <a:ext cx="4031030" cy="1057308"/>
          </a:xfrm>
        </p:spPr>
        <p:txBody>
          <a:bodyPr/>
          <a:lstStyle/>
          <a:p>
            <a:r>
              <a:rPr lang="pl-PL" dirty="0"/>
              <a:t>Zaimplementowano strukturę stosu (</a:t>
            </a:r>
            <a:r>
              <a:rPr lang="pl-PL" dirty="0" err="1"/>
              <a:t>Stack</a:t>
            </a:r>
            <a:r>
              <a:rPr lang="pl-PL" dirty="0"/>
              <a:t> LIFO) do obsługi historii operacji, co pozwala na funkcjonalność "</a:t>
            </a:r>
            <a:r>
              <a:rPr lang="pl-PL" dirty="0" err="1"/>
              <a:t>Undo</a:t>
            </a:r>
            <a:r>
              <a:rPr lang="pl-PL" dirty="0"/>
              <a:t>".</a:t>
            </a:r>
            <a:endParaRPr lang="en-US" dirty="0"/>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a:lstStyle/>
          <a:p>
            <a:r>
              <a:rPr lang="en-US" dirty="0"/>
              <a:t>2026</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a:lstStyle/>
          <a:p>
            <a:r>
              <a:rPr lang="en-US" dirty="0"/>
              <a:t>E-PHOTO</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5</a:t>
            </a:fld>
            <a:endParaRPr lang="en-US" dirty="0"/>
          </a:p>
        </p:txBody>
      </p:sp>
      <p:sp>
        <p:nvSpPr>
          <p:cNvPr id="12" name="pole tekstowe 11">
            <a:extLst>
              <a:ext uri="{FF2B5EF4-FFF2-40B4-BE49-F238E27FC236}">
                <a16:creationId xmlns:a16="http://schemas.microsoft.com/office/drawing/2014/main" id="{5C773920-DA49-BA88-4C05-A97E591E7FD7}"/>
              </a:ext>
            </a:extLst>
          </p:cNvPr>
          <p:cNvSpPr txBox="1"/>
          <p:nvPr/>
        </p:nvSpPr>
        <p:spPr>
          <a:xfrm>
            <a:off x="2487561" y="1385013"/>
            <a:ext cx="7551174" cy="646331"/>
          </a:xfrm>
          <a:prstGeom prst="rect">
            <a:avLst/>
          </a:prstGeom>
          <a:noFill/>
        </p:spPr>
        <p:txBody>
          <a:bodyPr wrap="square">
            <a:spAutoFit/>
          </a:bodyPr>
          <a:lstStyle/>
          <a:p>
            <a:r>
              <a:rPr lang="pl-PL" dirty="0"/>
              <a:t>System oparty jest na architekturze modułowej, z wyraźnym podziałem na warstwę prezentacji (GUI) i logikę biznesową (Przetwarzanie Obrazu).</a:t>
            </a:r>
            <a:endParaRPr lang="en-GB" dirty="0"/>
          </a:p>
        </p:txBody>
      </p:sp>
    </p:spTree>
    <p:extLst>
      <p:ext uri="{BB962C8B-B14F-4D97-AF65-F5344CB8AC3E}">
        <p14:creationId xmlns:p14="http://schemas.microsoft.com/office/powerpoint/2010/main" val="1593920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289A0-A3C9-B56A-C11C-DAB26D932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5D9DB9-0041-37F3-C286-63CA64B2E7EF}"/>
              </a:ext>
            </a:extLst>
          </p:cNvPr>
          <p:cNvSpPr>
            <a:spLocks noGrp="1"/>
          </p:cNvSpPr>
          <p:nvPr>
            <p:ph type="title"/>
          </p:nvPr>
        </p:nvSpPr>
        <p:spPr>
          <a:xfrm>
            <a:off x="4038600" y="2766218"/>
            <a:ext cx="10515600" cy="1325563"/>
          </a:xfrm>
        </p:spPr>
        <p:txBody>
          <a:bodyPr anchor="ctr">
            <a:normAutofit/>
          </a:bodyPr>
          <a:lstStyle/>
          <a:p>
            <a:r>
              <a:rPr lang="en-US" dirty="0"/>
              <a:t>SCHEMAT </a:t>
            </a:r>
            <a:r>
              <a:rPr lang="en-US" dirty="0" err="1"/>
              <a:t>blokowy</a:t>
            </a:r>
            <a:r>
              <a:rPr lang="en-US" dirty="0"/>
              <a:t> –</a:t>
            </a:r>
            <a:br>
              <a:rPr lang="en-US" dirty="0"/>
            </a:br>
            <a:r>
              <a:rPr lang="en-US" dirty="0" err="1"/>
              <a:t>logika</a:t>
            </a:r>
            <a:r>
              <a:rPr lang="en-US" dirty="0"/>
              <a:t> </a:t>
            </a:r>
            <a:r>
              <a:rPr lang="en-US" dirty="0" err="1"/>
              <a:t>aplikacji</a:t>
            </a:r>
            <a:endParaRPr lang="en-US" dirty="0"/>
          </a:p>
        </p:txBody>
      </p:sp>
      <p:sp>
        <p:nvSpPr>
          <p:cNvPr id="9" name="Date Placeholder 2">
            <a:extLst>
              <a:ext uri="{FF2B5EF4-FFF2-40B4-BE49-F238E27FC236}">
                <a16:creationId xmlns:a16="http://schemas.microsoft.com/office/drawing/2014/main" id="{0D31096F-2729-C92D-964A-B30B8F85F430}"/>
              </a:ext>
            </a:extLst>
          </p:cNvPr>
          <p:cNvSpPr>
            <a:spLocks noGrp="1"/>
          </p:cNvSpPr>
          <p:nvPr>
            <p:ph type="dt" sz="half" idx="10"/>
          </p:nvPr>
        </p:nvSpPr>
        <p:spPr>
          <a:xfrm>
            <a:off x="838200" y="6356350"/>
            <a:ext cx="2743200" cy="365125"/>
          </a:xfrm>
        </p:spPr>
        <p:txBody>
          <a:bodyPr anchor="ctr">
            <a:normAutofit/>
          </a:bodyPr>
          <a:lstStyle/>
          <a:p>
            <a:r>
              <a:rPr lang="en-US" dirty="0"/>
              <a:t>2026</a:t>
            </a:r>
          </a:p>
        </p:txBody>
      </p:sp>
      <p:sp>
        <p:nvSpPr>
          <p:cNvPr id="11" name="Footer Placeholder 3">
            <a:extLst>
              <a:ext uri="{FF2B5EF4-FFF2-40B4-BE49-F238E27FC236}">
                <a16:creationId xmlns:a16="http://schemas.microsoft.com/office/drawing/2014/main" id="{5111A4D0-4C6B-EC28-2C84-1E066C23DC05}"/>
              </a:ext>
            </a:extLst>
          </p:cNvPr>
          <p:cNvSpPr>
            <a:spLocks noGrp="1"/>
          </p:cNvSpPr>
          <p:nvPr>
            <p:ph type="ftr" sz="quarter" idx="11"/>
          </p:nvPr>
        </p:nvSpPr>
        <p:spPr>
          <a:xfrm>
            <a:off x="4038600" y="6356350"/>
            <a:ext cx="4114800" cy="365125"/>
          </a:xfrm>
        </p:spPr>
        <p:txBody>
          <a:bodyPr anchor="ctr">
            <a:normAutofit/>
          </a:bodyPr>
          <a:lstStyle/>
          <a:p>
            <a:r>
              <a:rPr lang="en-US" dirty="0"/>
              <a:t>E-PHOTO</a:t>
            </a:r>
          </a:p>
        </p:txBody>
      </p:sp>
      <p:sp>
        <p:nvSpPr>
          <p:cNvPr id="13" name="Slide Number Placeholder 4">
            <a:extLst>
              <a:ext uri="{FF2B5EF4-FFF2-40B4-BE49-F238E27FC236}">
                <a16:creationId xmlns:a16="http://schemas.microsoft.com/office/drawing/2014/main" id="{2CECCB74-4E3E-1448-467C-6C6E112A5AE7}"/>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6</a:t>
            </a:fld>
            <a:endParaRPr lang="en-US"/>
          </a:p>
        </p:txBody>
      </p:sp>
      <p:pic>
        <p:nvPicPr>
          <p:cNvPr id="4" name="Obraz 3" descr="Obraz zawierający diagram, szkic, Rysunek techniczny, rysowanie&#10;&#10;Zawartość wygenerowana przez AI może być niepoprawna.">
            <a:extLst>
              <a:ext uri="{FF2B5EF4-FFF2-40B4-BE49-F238E27FC236}">
                <a16:creationId xmlns:a16="http://schemas.microsoft.com/office/drawing/2014/main" id="{8C9C2269-E048-FCD6-54F5-5E1CFB4E8990}"/>
              </a:ext>
            </a:extLst>
          </p:cNvPr>
          <p:cNvPicPr>
            <a:picLocks noChangeAspect="1"/>
          </p:cNvPicPr>
          <p:nvPr/>
        </p:nvPicPr>
        <p:blipFill>
          <a:blip r:embed="rId2"/>
          <a:stretch>
            <a:fillRect/>
          </a:stretch>
        </p:blipFill>
        <p:spPr>
          <a:xfrm>
            <a:off x="1755228" y="0"/>
            <a:ext cx="5116860" cy="6356350"/>
          </a:xfrm>
          <a:prstGeom prst="rect">
            <a:avLst/>
          </a:prstGeom>
          <a:noFill/>
        </p:spPr>
      </p:pic>
    </p:spTree>
    <p:extLst>
      <p:ext uri="{BB962C8B-B14F-4D97-AF65-F5344CB8AC3E}">
        <p14:creationId xmlns:p14="http://schemas.microsoft.com/office/powerpoint/2010/main" val="2736107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F3B5F-E2AF-C16D-905A-BBC021964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93E93-D796-4783-32D8-3322CAD5EE43}"/>
              </a:ext>
            </a:extLst>
          </p:cNvPr>
          <p:cNvSpPr>
            <a:spLocks noGrp="1"/>
          </p:cNvSpPr>
          <p:nvPr>
            <p:ph type="title"/>
          </p:nvPr>
        </p:nvSpPr>
        <p:spPr>
          <a:xfrm>
            <a:off x="4038600" y="2766218"/>
            <a:ext cx="10515600" cy="1325563"/>
          </a:xfrm>
        </p:spPr>
        <p:txBody>
          <a:bodyPr anchor="ctr">
            <a:normAutofit/>
          </a:bodyPr>
          <a:lstStyle/>
          <a:p>
            <a:r>
              <a:rPr lang="en-US" dirty="0"/>
              <a:t>SCHEMAT UML –</a:t>
            </a:r>
            <a:br>
              <a:rPr lang="en-US" dirty="0"/>
            </a:br>
            <a:r>
              <a:rPr lang="en-US" dirty="0"/>
              <a:t>BUDOWA </a:t>
            </a:r>
            <a:r>
              <a:rPr lang="en-US" dirty="0" err="1"/>
              <a:t>aplikacji</a:t>
            </a:r>
            <a:endParaRPr lang="en-US" dirty="0"/>
          </a:p>
        </p:txBody>
      </p:sp>
      <p:sp>
        <p:nvSpPr>
          <p:cNvPr id="9" name="Date Placeholder 2">
            <a:extLst>
              <a:ext uri="{FF2B5EF4-FFF2-40B4-BE49-F238E27FC236}">
                <a16:creationId xmlns:a16="http://schemas.microsoft.com/office/drawing/2014/main" id="{A8A8CFF6-7C3F-996D-6AAF-DBC3DC25BB85}"/>
              </a:ext>
            </a:extLst>
          </p:cNvPr>
          <p:cNvSpPr>
            <a:spLocks noGrp="1"/>
          </p:cNvSpPr>
          <p:nvPr>
            <p:ph type="dt" sz="half" idx="10"/>
          </p:nvPr>
        </p:nvSpPr>
        <p:spPr>
          <a:xfrm>
            <a:off x="838200" y="6356350"/>
            <a:ext cx="2743200" cy="365125"/>
          </a:xfrm>
        </p:spPr>
        <p:txBody>
          <a:bodyPr anchor="ctr">
            <a:normAutofit/>
          </a:bodyPr>
          <a:lstStyle/>
          <a:p>
            <a:r>
              <a:rPr lang="en-US" dirty="0"/>
              <a:t>2026</a:t>
            </a:r>
          </a:p>
        </p:txBody>
      </p:sp>
      <p:sp>
        <p:nvSpPr>
          <p:cNvPr id="11" name="Footer Placeholder 3">
            <a:extLst>
              <a:ext uri="{FF2B5EF4-FFF2-40B4-BE49-F238E27FC236}">
                <a16:creationId xmlns:a16="http://schemas.microsoft.com/office/drawing/2014/main" id="{C837C400-55F5-E929-1209-45DF9AA27F11}"/>
              </a:ext>
            </a:extLst>
          </p:cNvPr>
          <p:cNvSpPr>
            <a:spLocks noGrp="1"/>
          </p:cNvSpPr>
          <p:nvPr>
            <p:ph type="ftr" sz="quarter" idx="11"/>
          </p:nvPr>
        </p:nvSpPr>
        <p:spPr>
          <a:xfrm>
            <a:off x="4038600" y="6356350"/>
            <a:ext cx="4114800" cy="365125"/>
          </a:xfrm>
        </p:spPr>
        <p:txBody>
          <a:bodyPr anchor="ctr">
            <a:normAutofit/>
          </a:bodyPr>
          <a:lstStyle/>
          <a:p>
            <a:r>
              <a:rPr lang="en-US" dirty="0"/>
              <a:t>E-PHOTO</a:t>
            </a:r>
          </a:p>
        </p:txBody>
      </p:sp>
      <p:sp>
        <p:nvSpPr>
          <p:cNvPr id="13" name="Slide Number Placeholder 4">
            <a:extLst>
              <a:ext uri="{FF2B5EF4-FFF2-40B4-BE49-F238E27FC236}">
                <a16:creationId xmlns:a16="http://schemas.microsoft.com/office/drawing/2014/main" id="{E3A98CA4-982E-6969-C32F-18E6752E1DBF}"/>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7</a:t>
            </a:fld>
            <a:endParaRPr lang="en-US"/>
          </a:p>
        </p:txBody>
      </p:sp>
      <p:pic>
        <p:nvPicPr>
          <p:cNvPr id="4" name="Obraz 3">
            <a:extLst>
              <a:ext uri="{FF2B5EF4-FFF2-40B4-BE49-F238E27FC236}">
                <a16:creationId xmlns:a16="http://schemas.microsoft.com/office/drawing/2014/main" id="{0B8D8FC4-CDC8-900C-665F-527F4158BB31}"/>
              </a:ext>
            </a:extLst>
          </p:cNvPr>
          <p:cNvPicPr>
            <a:picLocks noChangeAspect="1"/>
          </p:cNvPicPr>
          <p:nvPr/>
        </p:nvPicPr>
        <p:blipFill>
          <a:blip r:embed="rId2"/>
          <a:srcRect/>
          <a:stretch/>
        </p:blipFill>
        <p:spPr>
          <a:xfrm>
            <a:off x="3049373" y="0"/>
            <a:ext cx="2528570" cy="6356350"/>
          </a:xfrm>
          <a:prstGeom prst="rect">
            <a:avLst/>
          </a:prstGeom>
          <a:noFill/>
        </p:spPr>
      </p:pic>
    </p:spTree>
    <p:extLst>
      <p:ext uri="{BB962C8B-B14F-4D97-AF65-F5344CB8AC3E}">
        <p14:creationId xmlns:p14="http://schemas.microsoft.com/office/powerpoint/2010/main" val="1439854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a:lstStyle/>
          <a:p>
            <a:r>
              <a:rPr lang="en-GB" dirty="0" err="1"/>
              <a:t>Zastosowane</a:t>
            </a:r>
            <a:r>
              <a:rPr lang="en-GB" dirty="0"/>
              <a:t> </a:t>
            </a:r>
            <a:r>
              <a:rPr lang="en-GB" dirty="0" err="1"/>
              <a:t>technologie</a:t>
            </a:r>
            <a:endParaRPr lang="en-US" dirty="0"/>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0106" y="1220806"/>
            <a:ext cx="5433204" cy="706888"/>
          </a:xfrm>
        </p:spPr>
        <p:txBody>
          <a:bodyPr vert="horz" lIns="91440" tIns="45720" rIns="91440" bIns="45720" rtlCol="0" anchor="t">
            <a:normAutofit/>
          </a:bodyPr>
          <a:lstStyle/>
          <a:p>
            <a:r>
              <a:rPr lang="en-GB" b="1" dirty="0" err="1"/>
              <a:t>Język</a:t>
            </a:r>
            <a:r>
              <a:rPr lang="en-GB" b="1" dirty="0"/>
              <a:t> </a:t>
            </a:r>
            <a:r>
              <a:rPr lang="en-GB" b="1" dirty="0" err="1"/>
              <a:t>programowania</a:t>
            </a:r>
            <a:r>
              <a:rPr lang="en-GB" b="1" dirty="0"/>
              <a:t>:</a:t>
            </a:r>
            <a:r>
              <a:rPr lang="en-GB" dirty="0"/>
              <a:t> </a:t>
            </a:r>
            <a:r>
              <a:rPr lang="en-GB" b="1" dirty="0"/>
              <a:t>Python 3.10+</a:t>
            </a:r>
            <a:endParaRPr lang="en-US" dirty="0"/>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5919680" y="1550231"/>
            <a:ext cx="5431971" cy="1080200"/>
          </a:xfrm>
        </p:spPr>
        <p:txBody>
          <a:bodyPr>
            <a:normAutofit/>
          </a:bodyPr>
          <a:lstStyle/>
          <a:p>
            <a:r>
              <a:rPr lang="pl-PL" dirty="0"/>
              <a:t>wybrany ze względu na czytelność i bogaty ekosystem bibliotek graficznych.</a:t>
            </a:r>
            <a:endParaRPr lang="en-US" dirty="0"/>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23"/>
          </p:nvPr>
        </p:nvSpPr>
        <p:spPr>
          <a:xfrm>
            <a:off x="5920106" y="2320602"/>
            <a:ext cx="5433204" cy="706888"/>
          </a:xfrm>
        </p:spPr>
        <p:txBody>
          <a:bodyPr>
            <a:normAutofit/>
          </a:bodyPr>
          <a:lstStyle/>
          <a:p>
            <a:r>
              <a:rPr lang="en-GB" b="1" dirty="0"/>
              <a:t>GUI Framework:</a:t>
            </a:r>
            <a:r>
              <a:rPr lang="en-GB" dirty="0"/>
              <a:t> </a:t>
            </a:r>
            <a:r>
              <a:rPr lang="en-GB" b="1" dirty="0" err="1"/>
              <a:t>CustomTkinter</a:t>
            </a:r>
            <a:endParaRPr lang="en-US" dirty="0"/>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24"/>
          </p:nvPr>
        </p:nvSpPr>
        <p:spPr>
          <a:xfrm>
            <a:off x="5919680" y="2650027"/>
            <a:ext cx="5431971" cy="1080200"/>
          </a:xfrm>
        </p:spPr>
        <p:txBody>
          <a:bodyPr>
            <a:normAutofit/>
          </a:bodyPr>
          <a:lstStyle/>
          <a:p>
            <a:r>
              <a:rPr lang="pl-PL" dirty="0"/>
              <a:t>nowoczesna nakładka na standardowy </a:t>
            </a:r>
            <a:r>
              <a:rPr lang="pl-PL" dirty="0" err="1"/>
              <a:t>Tkinter</a:t>
            </a:r>
            <a:r>
              <a:rPr lang="pl-PL" dirty="0"/>
              <a:t>. Użyta, aby zapewnić estetyczny, "</a:t>
            </a:r>
            <a:r>
              <a:rPr lang="pl-PL" dirty="0" err="1"/>
              <a:t>smartfonowy</a:t>
            </a:r>
            <a:r>
              <a:rPr lang="pl-PL" dirty="0"/>
              <a:t>" wygląd aplikacji desktopowej (zaokrąglone rogi, nowoczesne palety barw), co jest kluczowe dla grupy docelowej.</a:t>
            </a:r>
            <a:endParaRPr lang="en-US" dirty="0"/>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25"/>
          </p:nvPr>
        </p:nvSpPr>
        <p:spPr>
          <a:xfrm>
            <a:off x="5922254" y="3730227"/>
            <a:ext cx="5433204" cy="365125"/>
          </a:xfrm>
        </p:spPr>
        <p:txBody>
          <a:bodyPr>
            <a:normAutofit lnSpcReduction="10000"/>
          </a:bodyPr>
          <a:lstStyle/>
          <a:p>
            <a:r>
              <a:rPr lang="pl-PL" b="1" dirty="0"/>
              <a:t>Silnik graficzny:</a:t>
            </a:r>
            <a:r>
              <a:rPr lang="pl-PL" dirty="0"/>
              <a:t> </a:t>
            </a:r>
            <a:r>
              <a:rPr lang="pl-PL" b="1" dirty="0" err="1"/>
              <a:t>Pillow</a:t>
            </a:r>
            <a:r>
              <a:rPr lang="pl-PL" b="1" dirty="0"/>
              <a:t> (PIL </a:t>
            </a:r>
            <a:r>
              <a:rPr lang="pl-PL" b="1" dirty="0" err="1"/>
              <a:t>Fork</a:t>
            </a:r>
            <a:r>
              <a:rPr lang="pl-PL" b="1" dirty="0"/>
              <a:t>)</a:t>
            </a:r>
            <a:endParaRPr lang="en-US" dirty="0"/>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26"/>
          </p:nvPr>
        </p:nvSpPr>
        <p:spPr>
          <a:xfrm>
            <a:off x="5921828" y="4059651"/>
            <a:ext cx="5431971" cy="770371"/>
          </a:xfrm>
        </p:spPr>
        <p:txBody>
          <a:bodyPr>
            <a:normAutofit/>
          </a:bodyPr>
          <a:lstStyle/>
          <a:p>
            <a:r>
              <a:rPr lang="pl-PL" dirty="0"/>
              <a:t>standard przemysłowy w </a:t>
            </a:r>
            <a:r>
              <a:rPr lang="pl-PL" dirty="0" err="1"/>
              <a:t>Pythonie</a:t>
            </a:r>
            <a:r>
              <a:rPr lang="pl-PL" dirty="0"/>
              <a:t> do manipulacji rastrowej. Wykorzystano moduły </a:t>
            </a:r>
            <a:r>
              <a:rPr lang="pl-PL" dirty="0" err="1"/>
              <a:t>ImageOps</a:t>
            </a:r>
            <a:r>
              <a:rPr lang="pl-PL" dirty="0"/>
              <a:t>, </a:t>
            </a:r>
            <a:r>
              <a:rPr lang="pl-PL" dirty="0" err="1"/>
              <a:t>ImageFilter</a:t>
            </a:r>
            <a:r>
              <a:rPr lang="pl-PL" dirty="0"/>
              <a:t> oraz </a:t>
            </a:r>
            <a:r>
              <a:rPr lang="pl-PL" dirty="0" err="1"/>
              <a:t>ImageEnhance</a:t>
            </a:r>
            <a:r>
              <a:rPr lang="pl-PL" dirty="0"/>
              <a:t> do implementacji algorytmów splotu i operacji punktowych.</a:t>
            </a:r>
            <a:endParaRPr lang="en-US" dirty="0"/>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7"/>
          </p:nvPr>
        </p:nvSpPr>
        <p:spPr>
          <a:xfrm>
            <a:off x="5920106" y="5103850"/>
            <a:ext cx="5433204" cy="365125"/>
          </a:xfrm>
        </p:spPr>
        <p:txBody>
          <a:bodyPr>
            <a:normAutofit lnSpcReduction="10000"/>
          </a:bodyPr>
          <a:lstStyle/>
          <a:p>
            <a:r>
              <a:rPr lang="en-GB" b="1" dirty="0"/>
              <a:t>System </a:t>
            </a:r>
            <a:r>
              <a:rPr lang="en-GB" b="1" dirty="0" err="1"/>
              <a:t>kontroli</a:t>
            </a:r>
            <a:r>
              <a:rPr lang="en-GB" b="1" dirty="0"/>
              <a:t> </a:t>
            </a:r>
            <a:r>
              <a:rPr lang="en-GB" b="1" dirty="0" err="1"/>
              <a:t>wersji</a:t>
            </a:r>
            <a:r>
              <a:rPr lang="en-GB" b="1" dirty="0"/>
              <a:t>:</a:t>
            </a:r>
            <a:r>
              <a:rPr lang="en-GB" dirty="0"/>
              <a:t> </a:t>
            </a:r>
            <a:r>
              <a:rPr lang="en-GB" b="1" dirty="0"/>
              <a:t>Git</a:t>
            </a:r>
            <a:endParaRPr lang="en-US" dirty="0"/>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8"/>
          </p:nvPr>
        </p:nvSpPr>
        <p:spPr>
          <a:xfrm>
            <a:off x="5919680" y="5433275"/>
            <a:ext cx="5431971" cy="557950"/>
          </a:xfrm>
        </p:spPr>
        <p:txBody>
          <a:bodyPr/>
          <a:lstStyle/>
          <a:p>
            <a:r>
              <a:rPr lang="pl-PL" dirty="0"/>
              <a:t>do zarządzania zmianami w kodzie.</a:t>
            </a:r>
            <a:endParaRPr lang="en-US" dirty="0"/>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a:lstStyle/>
          <a:p>
            <a:r>
              <a:rPr lang="en-US" dirty="0"/>
              <a:t>2026</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a:lstStyle/>
          <a:p>
            <a:r>
              <a:rPr lang="en-US" dirty="0"/>
              <a:t>E-PHOTO</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8</a:t>
            </a:fld>
            <a:endParaRPr lang="en-US" dirty="0"/>
          </a:p>
        </p:txBody>
      </p:sp>
    </p:spTree>
    <p:extLst>
      <p:ext uri="{BB962C8B-B14F-4D97-AF65-F5344CB8AC3E}">
        <p14:creationId xmlns:p14="http://schemas.microsoft.com/office/powerpoint/2010/main" val="1844941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a:lstStyle/>
          <a:p>
            <a:r>
              <a:rPr lang="en-US" dirty="0" err="1"/>
              <a:t>PODzIał</a:t>
            </a:r>
            <a:r>
              <a:rPr lang="en-US" dirty="0"/>
              <a:t> </a:t>
            </a:r>
            <a:r>
              <a:rPr lang="en-US" dirty="0" err="1"/>
              <a:t>ról</a:t>
            </a:r>
            <a:r>
              <a:rPr lang="en-US" dirty="0"/>
              <a:t> w </a:t>
            </a:r>
            <a:r>
              <a:rPr lang="en-US" dirty="0" err="1"/>
              <a:t>zespole</a:t>
            </a:r>
            <a:endParaRPr lang="en-US" dirty="0"/>
          </a:p>
        </p:txBody>
      </p:sp>
      <p:pic>
        <p:nvPicPr>
          <p:cNvPr id="26" name="Picture Placeholder 25" descr="Team member headshot">
            <a:extLst>
              <a:ext uri="{FF2B5EF4-FFF2-40B4-BE49-F238E27FC236}">
                <a16:creationId xmlns:a16="http://schemas.microsoft.com/office/drawing/2014/main" id="{E287A61C-B7FB-4B69-97E7-7B7AFC8A5D33}"/>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2088406" y="2713943"/>
            <a:ext cx="1845511" cy="1845511"/>
          </a:xfrm>
        </p:spPr>
      </p:pic>
      <p:pic>
        <p:nvPicPr>
          <p:cNvPr id="47" name="Picture Placeholder 46" descr="Team member headshot">
            <a:extLst>
              <a:ext uri="{FF2B5EF4-FFF2-40B4-BE49-F238E27FC236}">
                <a16:creationId xmlns:a16="http://schemas.microsoft.com/office/drawing/2014/main" id="{8AF5260A-2860-4F88-BA4D-70530D3E14AA}"/>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5173244" y="2699261"/>
            <a:ext cx="1845511" cy="1845511"/>
          </a:xfrm>
        </p:spPr>
      </p:pic>
      <p:pic>
        <p:nvPicPr>
          <p:cNvPr id="45" name="Picture Placeholder 44" descr="Team member headshot">
            <a:extLst>
              <a:ext uri="{FF2B5EF4-FFF2-40B4-BE49-F238E27FC236}">
                <a16:creationId xmlns:a16="http://schemas.microsoft.com/office/drawing/2014/main" id="{4442FA67-BF04-4E45-BFD9-78BF43789E09}"/>
              </a:ext>
            </a:extLst>
          </p:cNvPr>
          <p:cNvPicPr>
            <a:picLocks noGrp="1" noChangeAspect="1"/>
          </p:cNvPicPr>
          <p:nvPr>
            <p:ph type="pic" sz="quarter" idx="16"/>
          </p:nvPr>
        </p:nvPicPr>
        <p:blipFill rotWithShape="1">
          <a:blip r:embed="rId4">
            <a:extLst>
              <a:ext uri="{28A0092B-C50C-407E-A947-70E740481C1C}">
                <a14:useLocalDpi xmlns:a14="http://schemas.microsoft.com/office/drawing/2010/main" val="0"/>
              </a:ext>
            </a:extLst>
          </a:blip>
          <a:srcRect/>
          <a:stretch/>
        </p:blipFill>
        <p:spPr>
          <a:xfrm>
            <a:off x="8258082" y="2713943"/>
            <a:ext cx="1845511" cy="1845511"/>
          </a:xfrm>
        </p:spPr>
      </p:pic>
      <p:sp>
        <p:nvSpPr>
          <p:cNvPr id="24" name="Text Placeholder 23">
            <a:extLst>
              <a:ext uri="{FF2B5EF4-FFF2-40B4-BE49-F238E27FC236}">
                <a16:creationId xmlns:a16="http://schemas.microsoft.com/office/drawing/2014/main" id="{7BAD1FFF-8B97-4CD1-85E7-B7738EAD28CD}"/>
              </a:ext>
            </a:extLst>
          </p:cNvPr>
          <p:cNvSpPr>
            <a:spLocks noGrp="1"/>
          </p:cNvSpPr>
          <p:nvPr>
            <p:ph type="body" idx="1"/>
          </p:nvPr>
        </p:nvSpPr>
        <p:spPr>
          <a:xfrm>
            <a:off x="1944473" y="4912393"/>
            <a:ext cx="2123743" cy="343061"/>
          </a:xfrm>
        </p:spPr>
        <p:txBody>
          <a:bodyPr/>
          <a:lstStyle/>
          <a:p>
            <a:r>
              <a:rPr lang="en-US" dirty="0"/>
              <a:t>TAKUMA HAYASHI​</a:t>
            </a:r>
          </a:p>
        </p:txBody>
      </p:sp>
      <p:sp>
        <p:nvSpPr>
          <p:cNvPr id="33" name="Text Placeholder 32">
            <a:extLst>
              <a:ext uri="{FF2B5EF4-FFF2-40B4-BE49-F238E27FC236}">
                <a16:creationId xmlns:a16="http://schemas.microsoft.com/office/drawing/2014/main" id="{10C8C8C1-99D8-4034-A628-DECEB703BA1D}"/>
              </a:ext>
            </a:extLst>
          </p:cNvPr>
          <p:cNvSpPr>
            <a:spLocks noGrp="1"/>
          </p:cNvSpPr>
          <p:nvPr>
            <p:ph type="body" idx="18"/>
          </p:nvPr>
        </p:nvSpPr>
        <p:spPr>
          <a:xfrm>
            <a:off x="5029310" y="4912393"/>
            <a:ext cx="2135755" cy="343061"/>
          </a:xfrm>
        </p:spPr>
        <p:txBody>
          <a:bodyPr/>
          <a:lstStyle/>
          <a:p>
            <a:r>
              <a:rPr lang="en-US" dirty="0"/>
              <a:t>MIRJAM NILSSON​</a:t>
            </a:r>
          </a:p>
        </p:txBody>
      </p:sp>
      <p:sp>
        <p:nvSpPr>
          <p:cNvPr id="34" name="Text Placeholder 33">
            <a:extLst>
              <a:ext uri="{FF2B5EF4-FFF2-40B4-BE49-F238E27FC236}">
                <a16:creationId xmlns:a16="http://schemas.microsoft.com/office/drawing/2014/main" id="{08CA58D6-00FD-4D81-A0F6-215C4D558912}"/>
              </a:ext>
            </a:extLst>
          </p:cNvPr>
          <p:cNvSpPr>
            <a:spLocks noGrp="1"/>
          </p:cNvSpPr>
          <p:nvPr>
            <p:ph type="body" idx="19"/>
          </p:nvPr>
        </p:nvSpPr>
        <p:spPr>
          <a:xfrm>
            <a:off x="8114148" y="4927075"/>
            <a:ext cx="2123743" cy="343061"/>
          </a:xfrm>
        </p:spPr>
        <p:txBody>
          <a:bodyPr/>
          <a:lstStyle/>
          <a:p>
            <a:r>
              <a:rPr lang="en-US" dirty="0"/>
              <a:t>FLORA BERGGREN​</a:t>
            </a:r>
          </a:p>
        </p:txBody>
      </p:sp>
      <p:sp>
        <p:nvSpPr>
          <p:cNvPr id="36" name="Text Placeholder 35">
            <a:extLst>
              <a:ext uri="{FF2B5EF4-FFF2-40B4-BE49-F238E27FC236}">
                <a16:creationId xmlns:a16="http://schemas.microsoft.com/office/drawing/2014/main" id="{B76FA389-A54D-4E4B-81DA-DBA175D78FEC}"/>
              </a:ext>
            </a:extLst>
          </p:cNvPr>
          <p:cNvSpPr>
            <a:spLocks noGrp="1"/>
          </p:cNvSpPr>
          <p:nvPr>
            <p:ph type="body" idx="21"/>
          </p:nvPr>
        </p:nvSpPr>
        <p:spPr>
          <a:xfrm>
            <a:off x="2088406" y="5291983"/>
            <a:ext cx="1845511" cy="343061"/>
          </a:xfrm>
        </p:spPr>
        <p:txBody>
          <a:bodyPr/>
          <a:lstStyle/>
          <a:p>
            <a:r>
              <a:rPr lang="en-US" dirty="0"/>
              <a:t>President</a:t>
            </a:r>
          </a:p>
        </p:txBody>
      </p:sp>
      <p:sp>
        <p:nvSpPr>
          <p:cNvPr id="37" name="Text Placeholder 36">
            <a:extLst>
              <a:ext uri="{FF2B5EF4-FFF2-40B4-BE49-F238E27FC236}">
                <a16:creationId xmlns:a16="http://schemas.microsoft.com/office/drawing/2014/main" id="{65786675-BFC6-4743-BFD3-D64691F771D8}"/>
              </a:ext>
            </a:extLst>
          </p:cNvPr>
          <p:cNvSpPr>
            <a:spLocks noGrp="1"/>
          </p:cNvSpPr>
          <p:nvPr>
            <p:ph type="body" idx="22"/>
          </p:nvPr>
        </p:nvSpPr>
        <p:spPr>
          <a:xfrm>
            <a:off x="5173243" y="5291983"/>
            <a:ext cx="1855949" cy="343061"/>
          </a:xfrm>
        </p:spPr>
        <p:txBody>
          <a:bodyPr/>
          <a:lstStyle/>
          <a:p>
            <a:r>
              <a:rPr lang="en-US" dirty="0"/>
              <a:t>Chief Executive Officer</a:t>
            </a:r>
          </a:p>
        </p:txBody>
      </p:sp>
      <p:sp>
        <p:nvSpPr>
          <p:cNvPr id="38" name="Text Placeholder 37">
            <a:extLst>
              <a:ext uri="{FF2B5EF4-FFF2-40B4-BE49-F238E27FC236}">
                <a16:creationId xmlns:a16="http://schemas.microsoft.com/office/drawing/2014/main" id="{97062F49-F468-4EA6-B6BF-94BFF89FDCB7}"/>
              </a:ext>
            </a:extLst>
          </p:cNvPr>
          <p:cNvSpPr>
            <a:spLocks noGrp="1"/>
          </p:cNvSpPr>
          <p:nvPr>
            <p:ph type="body" idx="23"/>
          </p:nvPr>
        </p:nvSpPr>
        <p:spPr>
          <a:xfrm>
            <a:off x="8258081" y="5306665"/>
            <a:ext cx="1845511" cy="343061"/>
          </a:xfrm>
        </p:spPr>
        <p:txBody>
          <a:bodyPr/>
          <a:lstStyle/>
          <a:p>
            <a:r>
              <a:rPr lang="en-US" dirty="0"/>
              <a:t>Chief Operations Officer</a:t>
            </a:r>
          </a:p>
          <a:p>
            <a:endParaRPr lang="en-US" dirty="0"/>
          </a:p>
        </p:txBody>
      </p:sp>
      <p:sp>
        <p:nvSpPr>
          <p:cNvPr id="3" name="Date Placeholder 2">
            <a:extLst>
              <a:ext uri="{FF2B5EF4-FFF2-40B4-BE49-F238E27FC236}">
                <a16:creationId xmlns:a16="http://schemas.microsoft.com/office/drawing/2014/main" id="{02F9CC1F-102C-49CC-B646-8E6826368A81}"/>
              </a:ext>
            </a:extLst>
          </p:cNvPr>
          <p:cNvSpPr>
            <a:spLocks noGrp="1"/>
          </p:cNvSpPr>
          <p:nvPr>
            <p:ph type="dt" sz="half" idx="10"/>
          </p:nvPr>
        </p:nvSpPr>
        <p:spPr>
          <a:xfrm>
            <a:off x="838200" y="6356350"/>
            <a:ext cx="2743200" cy="365125"/>
          </a:xfrm>
        </p:spPr>
        <p:txBody>
          <a:bodyPr/>
          <a:lstStyle/>
          <a:p>
            <a:r>
              <a:rPr lang="en-US" dirty="0"/>
              <a:t>2026</a:t>
            </a:r>
          </a:p>
        </p:txBody>
      </p:sp>
      <p:sp>
        <p:nvSpPr>
          <p:cNvPr id="4" name="Footer Placeholder 3">
            <a:extLst>
              <a:ext uri="{FF2B5EF4-FFF2-40B4-BE49-F238E27FC236}">
                <a16:creationId xmlns:a16="http://schemas.microsoft.com/office/drawing/2014/main" id="{33808A03-6EC3-48BE-9D18-5A746D09243E}"/>
              </a:ext>
            </a:extLst>
          </p:cNvPr>
          <p:cNvSpPr>
            <a:spLocks noGrp="1"/>
          </p:cNvSpPr>
          <p:nvPr>
            <p:ph type="ftr" sz="quarter" idx="11"/>
          </p:nvPr>
        </p:nvSpPr>
        <p:spPr>
          <a:xfrm>
            <a:off x="4038600" y="6356350"/>
            <a:ext cx="4114800" cy="365125"/>
          </a:xfrm>
        </p:spPr>
        <p:txBody>
          <a:bodyPr/>
          <a:lstStyle/>
          <a:p>
            <a:r>
              <a:rPr lang="en-US" dirty="0"/>
              <a:t>E-PHOTO</a:t>
            </a:r>
          </a:p>
        </p:txBody>
      </p:sp>
      <p:sp>
        <p:nvSpPr>
          <p:cNvPr id="5" name="Slide Number Placeholder 4">
            <a:extLst>
              <a:ext uri="{FF2B5EF4-FFF2-40B4-BE49-F238E27FC236}">
                <a16:creationId xmlns:a16="http://schemas.microsoft.com/office/drawing/2014/main" id="{46868410-BE8A-4C98-9C72-20D0A2A6A8B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3477453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5535562" y="1152771"/>
            <a:ext cx="6201186" cy="846301"/>
          </a:xfrm>
        </p:spPr>
        <p:txBody>
          <a:bodyPr>
            <a:normAutofit fontScale="90000"/>
          </a:bodyPr>
          <a:lstStyle/>
          <a:p>
            <a:r>
              <a:rPr lang="en-US" dirty="0" err="1"/>
              <a:t>Kompetencje</a:t>
            </a:r>
            <a:r>
              <a:rPr lang="en-US" dirty="0"/>
              <a:t> I </a:t>
            </a:r>
            <a:r>
              <a:rPr lang="en-US" dirty="0" err="1"/>
              <a:t>rozwój</a:t>
            </a:r>
            <a:r>
              <a:rPr lang="en-US" dirty="0"/>
              <a:t> </a:t>
            </a:r>
            <a:r>
              <a:rPr lang="en-US" dirty="0" err="1"/>
              <a:t>osobisty</a:t>
            </a:r>
            <a:endParaRPr lang="en-US" dirty="0"/>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13"/>
          </p:nvPr>
        </p:nvSpPr>
        <p:spPr>
          <a:xfrm>
            <a:off x="5922254" y="2469515"/>
            <a:ext cx="5433204" cy="365125"/>
          </a:xfrm>
        </p:spPr>
        <p:txBody>
          <a:bodyPr vert="horz" lIns="91440" tIns="45720" rIns="91440" bIns="45720" rtlCol="0" anchor="t">
            <a:noAutofit/>
          </a:bodyPr>
          <a:lstStyle/>
          <a:p>
            <a:r>
              <a:rPr lang="en-US" noProof="1"/>
              <a:t>todo</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921828" y="2798940"/>
            <a:ext cx="5431971" cy="557950"/>
          </a:xfrm>
        </p:spPr>
        <p:txBody>
          <a:bodyPr>
            <a:normAutofit/>
          </a:bodyPr>
          <a:lstStyle/>
          <a:p>
            <a:r>
              <a:rPr lang="en-US" noProof="1"/>
              <a:t>We based our research on market trends and social media</a:t>
            </a:r>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23"/>
          </p:nvPr>
        </p:nvSpPr>
        <p:spPr>
          <a:xfrm>
            <a:off x="5922254" y="3569311"/>
            <a:ext cx="5433204" cy="365125"/>
          </a:xfrm>
        </p:spPr>
        <p:txBody>
          <a:bodyPr vert="horz" lIns="91440" tIns="45720" rIns="91440" bIns="45720" rtlCol="0" anchor="t">
            <a:noAutofit/>
          </a:bodyPr>
          <a:lstStyle/>
          <a:p>
            <a:r>
              <a:rPr lang="en-US" noProof="1"/>
              <a:t>DESIGN</a:t>
            </a:r>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24"/>
          </p:nvPr>
        </p:nvSpPr>
        <p:spPr>
          <a:xfrm>
            <a:off x="5921828" y="3898736"/>
            <a:ext cx="5431971" cy="557950"/>
          </a:xfrm>
        </p:spPr>
        <p:txBody>
          <a:bodyPr>
            <a:normAutofit/>
          </a:bodyPr>
          <a:lstStyle/>
          <a:p>
            <a:r>
              <a:rPr lang="en-US" noProof="1"/>
              <a:t>We believe people need more products specifically dedicated to this niche market</a:t>
            </a:r>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25"/>
          </p:nvPr>
        </p:nvSpPr>
        <p:spPr>
          <a:xfrm>
            <a:off x="5922254" y="4669107"/>
            <a:ext cx="5433204" cy="365125"/>
          </a:xfrm>
        </p:spPr>
        <p:txBody>
          <a:bodyPr vert="horz" lIns="91440" tIns="45720" rIns="91440" bIns="45720" rtlCol="0" anchor="t">
            <a:normAutofit lnSpcReduction="10000"/>
          </a:bodyPr>
          <a:lstStyle/>
          <a:p>
            <a:r>
              <a:rPr lang="en-US" noProof="1"/>
              <a:t>RESEARCH</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26"/>
          </p:nvPr>
        </p:nvSpPr>
        <p:spPr>
          <a:xfrm>
            <a:off x="5921828" y="4998532"/>
            <a:ext cx="5431971" cy="557950"/>
          </a:xfrm>
        </p:spPr>
        <p:txBody>
          <a:bodyPr>
            <a:normAutofit/>
          </a:bodyPr>
          <a:lstStyle/>
          <a:p>
            <a:r>
              <a:rPr lang="en-US" noProof="1"/>
              <a:t>Minimalist and easy to use </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a:lstStyle/>
          <a:p>
            <a:r>
              <a:rPr lang="en-US" dirty="0"/>
              <a:t>2026</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a:lstStyle/>
          <a:p>
            <a:r>
              <a:rPr lang="en-US" dirty="0"/>
              <a:t>E-PHOTO</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US" smtClean="0"/>
              <a:pPr/>
              <a:t>10</a:t>
            </a:fld>
            <a:endParaRPr lang="en-US" dirty="0"/>
          </a:p>
        </p:txBody>
      </p:sp>
    </p:spTree>
    <p:extLst>
      <p:ext uri="{BB962C8B-B14F-4D97-AF65-F5344CB8AC3E}">
        <p14:creationId xmlns:p14="http://schemas.microsoft.com/office/powerpoint/2010/main" val="2069393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ytuł 13">
            <a:extLst>
              <a:ext uri="{FF2B5EF4-FFF2-40B4-BE49-F238E27FC236}">
                <a16:creationId xmlns:a16="http://schemas.microsoft.com/office/drawing/2014/main" id="{B28A5017-74B5-0AB4-8989-9BF7F0CA6987}"/>
              </a:ext>
            </a:extLst>
          </p:cNvPr>
          <p:cNvSpPr>
            <a:spLocks noGrp="1"/>
          </p:cNvSpPr>
          <p:nvPr>
            <p:ph type="title"/>
          </p:nvPr>
        </p:nvSpPr>
        <p:spPr/>
        <p:txBody>
          <a:bodyPr/>
          <a:lstStyle/>
          <a:p>
            <a:r>
              <a:rPr lang="en-GB" dirty="0" err="1"/>
              <a:t>Prezentacja</a:t>
            </a:r>
            <a:r>
              <a:rPr lang="en-GB" dirty="0"/>
              <a:t> </a:t>
            </a:r>
            <a:r>
              <a:rPr lang="en-GB" dirty="0" err="1"/>
              <a:t>produktu</a:t>
            </a:r>
            <a:endParaRPr lang="en-GB" dirty="0"/>
          </a:p>
        </p:txBody>
      </p:sp>
      <p:sp>
        <p:nvSpPr>
          <p:cNvPr id="11" name="Symbol zastępczy daty 10">
            <a:extLst>
              <a:ext uri="{FF2B5EF4-FFF2-40B4-BE49-F238E27FC236}">
                <a16:creationId xmlns:a16="http://schemas.microsoft.com/office/drawing/2014/main" id="{5371F1D8-A66E-79D4-C6D7-8CEA25F0C5C8}"/>
              </a:ext>
            </a:extLst>
          </p:cNvPr>
          <p:cNvSpPr>
            <a:spLocks noGrp="1"/>
          </p:cNvSpPr>
          <p:nvPr>
            <p:ph type="dt" sz="half" idx="10"/>
          </p:nvPr>
        </p:nvSpPr>
        <p:spPr/>
        <p:txBody>
          <a:bodyPr/>
          <a:lstStyle/>
          <a:p>
            <a:r>
              <a:rPr lang="en-US" dirty="0"/>
              <a:t>2026</a:t>
            </a:r>
          </a:p>
        </p:txBody>
      </p:sp>
      <p:sp>
        <p:nvSpPr>
          <p:cNvPr id="12" name="Symbol zastępczy stopki 11">
            <a:extLst>
              <a:ext uri="{FF2B5EF4-FFF2-40B4-BE49-F238E27FC236}">
                <a16:creationId xmlns:a16="http://schemas.microsoft.com/office/drawing/2014/main" id="{90CEE262-03C1-AD02-7FFE-B2650772A48B}"/>
              </a:ext>
            </a:extLst>
          </p:cNvPr>
          <p:cNvSpPr>
            <a:spLocks noGrp="1"/>
          </p:cNvSpPr>
          <p:nvPr>
            <p:ph type="ftr" sz="quarter" idx="11"/>
          </p:nvPr>
        </p:nvSpPr>
        <p:spPr/>
        <p:txBody>
          <a:bodyPr/>
          <a:lstStyle/>
          <a:p>
            <a:r>
              <a:rPr lang="en-US" dirty="0"/>
              <a:t>E-PHOTO</a:t>
            </a:r>
          </a:p>
        </p:txBody>
      </p:sp>
      <p:sp>
        <p:nvSpPr>
          <p:cNvPr id="13" name="Symbol zastępczy numeru slajdu 12">
            <a:extLst>
              <a:ext uri="{FF2B5EF4-FFF2-40B4-BE49-F238E27FC236}">
                <a16:creationId xmlns:a16="http://schemas.microsoft.com/office/drawing/2014/main" id="{CADE28AB-EA6E-20E1-EB52-9CBEF9E16E42}"/>
              </a:ext>
            </a:extLst>
          </p:cNvPr>
          <p:cNvSpPr>
            <a:spLocks noGrp="1"/>
          </p:cNvSpPr>
          <p:nvPr>
            <p:ph type="sldNum" sz="quarter" idx="12"/>
          </p:nvPr>
        </p:nvSpPr>
        <p:spPr/>
        <p:txBody>
          <a:bodyPr/>
          <a:lstStyle/>
          <a:p>
            <a:fld id="{B5CEABB6-07DC-46E8-9B57-56EC44A396E5}" type="slidenum">
              <a:rPr lang="en-US" smtClean="0"/>
              <a:t>11</a:t>
            </a:fld>
            <a:endParaRPr lang="en-US" dirty="0"/>
          </a:p>
        </p:txBody>
      </p:sp>
      <p:sp>
        <p:nvSpPr>
          <p:cNvPr id="15" name="Symbol zastępczy zawartości 14">
            <a:extLst>
              <a:ext uri="{FF2B5EF4-FFF2-40B4-BE49-F238E27FC236}">
                <a16:creationId xmlns:a16="http://schemas.microsoft.com/office/drawing/2014/main" id="{0DAF6EB7-4E0B-8B5F-3F28-F6BDBAA97080}"/>
              </a:ext>
            </a:extLst>
          </p:cNvPr>
          <p:cNvSpPr>
            <a:spLocks noGrp="1"/>
          </p:cNvSpPr>
          <p:nvPr>
            <p:ph sz="quarter" idx="16"/>
          </p:nvPr>
        </p:nvSpPr>
        <p:spPr/>
        <p:txBody>
          <a:bodyPr/>
          <a:lstStyle/>
          <a:p>
            <a:r>
              <a:rPr lang="en-GB" dirty="0"/>
              <a:t>TODO: film z </a:t>
            </a:r>
            <a:r>
              <a:rPr lang="en-GB" dirty="0" err="1"/>
              <a:t>aplikacji</a:t>
            </a:r>
            <a:endParaRPr lang="en-GB" dirty="0"/>
          </a:p>
        </p:txBody>
      </p:sp>
    </p:spTree>
    <p:extLst>
      <p:ext uri="{BB962C8B-B14F-4D97-AF65-F5344CB8AC3E}">
        <p14:creationId xmlns:p14="http://schemas.microsoft.com/office/powerpoint/2010/main" val="2968820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107192" y="5542378"/>
            <a:ext cx="5988808" cy="585788"/>
          </a:xfrm>
        </p:spPr>
        <p:txBody>
          <a:bodyPr>
            <a:normAutofit fontScale="90000"/>
          </a:bodyPr>
          <a:lstStyle/>
          <a:p>
            <a:r>
              <a:rPr lang="en-GB" dirty="0" err="1"/>
              <a:t>Perspektywy</a:t>
            </a:r>
            <a:r>
              <a:rPr lang="en-GB" dirty="0"/>
              <a:t> </a:t>
            </a:r>
            <a:r>
              <a:rPr lang="en-GB" dirty="0" err="1"/>
              <a:t>rozwoju</a:t>
            </a:r>
            <a:r>
              <a:rPr lang="en-GB" dirty="0"/>
              <a:t> </a:t>
            </a:r>
            <a:r>
              <a:rPr lang="en-GB" dirty="0" err="1"/>
              <a:t>produktu</a:t>
            </a:r>
            <a:endParaRPr lang="en-US" dirty="0"/>
          </a:p>
        </p:txBody>
      </p:sp>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48318" y="1481138"/>
            <a:ext cx="2141764" cy="514350"/>
          </a:xfrm>
        </p:spPr>
        <p:txBody>
          <a:bodyPr vert="horz" lIns="91440" tIns="45720" rIns="91440" bIns="45720" rtlCol="0" anchor="ctr">
            <a:normAutofit lnSpcReduction="10000"/>
          </a:bodyPr>
          <a:lstStyle/>
          <a:p>
            <a:r>
              <a:rPr lang="en-GB" dirty="0" err="1"/>
              <a:t>Wdrożenie</a:t>
            </a:r>
            <a:r>
              <a:rPr lang="en-GB" dirty="0"/>
              <a:t> </a:t>
            </a:r>
            <a:r>
              <a:rPr lang="en-GB" dirty="0" err="1"/>
              <a:t>suwaków</a:t>
            </a:r>
            <a:endParaRPr lang="en-US" dirty="0"/>
          </a:p>
        </p:txBody>
      </p:sp>
      <p:sp>
        <p:nvSpPr>
          <p:cNvPr id="4" name="Text Placeholder 3">
            <a:extLst>
              <a:ext uri="{FF2B5EF4-FFF2-40B4-BE49-F238E27FC236}">
                <a16:creationId xmlns:a16="http://schemas.microsoft.com/office/drawing/2014/main" id="{F5FF1291-56EB-4A7B-A198-1D91F9ECC5D3}"/>
              </a:ext>
            </a:extLst>
          </p:cNvPr>
          <p:cNvSpPr>
            <a:spLocks noGrp="1"/>
          </p:cNvSpPr>
          <p:nvPr>
            <p:ph type="body" sz="quarter" idx="14"/>
          </p:nvPr>
        </p:nvSpPr>
        <p:spPr>
          <a:xfrm>
            <a:off x="714375" y="2557463"/>
            <a:ext cx="2141764" cy="514350"/>
          </a:xfrm>
        </p:spPr>
        <p:txBody>
          <a:bodyPr/>
          <a:lstStyle/>
          <a:p>
            <a:r>
              <a:rPr lang="en-GB" dirty="0"/>
              <a:t>Baza </a:t>
            </a:r>
            <a:r>
              <a:rPr lang="en-GB" dirty="0" err="1"/>
              <a:t>danych</a:t>
            </a:r>
            <a:r>
              <a:rPr lang="en-GB" dirty="0"/>
              <a:t> (SQLite)</a:t>
            </a:r>
            <a:endParaRPr lang="en-US" dirty="0"/>
          </a:p>
        </p:txBody>
      </p:sp>
      <p:sp>
        <p:nvSpPr>
          <p:cNvPr id="5" name="Text Placeholder 4">
            <a:extLst>
              <a:ext uri="{FF2B5EF4-FFF2-40B4-BE49-F238E27FC236}">
                <a16:creationId xmlns:a16="http://schemas.microsoft.com/office/drawing/2014/main" id="{6184E21C-7534-4FB5-9709-F7D1A11034F3}"/>
              </a:ext>
            </a:extLst>
          </p:cNvPr>
          <p:cNvSpPr>
            <a:spLocks noGrp="1"/>
          </p:cNvSpPr>
          <p:nvPr>
            <p:ph type="body" sz="quarter" idx="15"/>
          </p:nvPr>
        </p:nvSpPr>
        <p:spPr>
          <a:xfrm>
            <a:off x="1320800" y="3633788"/>
            <a:ext cx="2141764" cy="514350"/>
          </a:xfrm>
        </p:spPr>
        <p:txBody>
          <a:bodyPr/>
          <a:lstStyle/>
          <a:p>
            <a:r>
              <a:rPr lang="en-GB" dirty="0"/>
              <a:t>Batch Processing</a:t>
            </a:r>
            <a:endParaRPr lang="en-US" dirty="0"/>
          </a:p>
        </p:txBody>
      </p:sp>
      <p:sp>
        <p:nvSpPr>
          <p:cNvPr id="6" name="Text Placeholder 5">
            <a:extLst>
              <a:ext uri="{FF2B5EF4-FFF2-40B4-BE49-F238E27FC236}">
                <a16:creationId xmlns:a16="http://schemas.microsoft.com/office/drawing/2014/main" id="{5C594564-4FC6-401A-8586-44735EE819EC}"/>
              </a:ext>
            </a:extLst>
          </p:cNvPr>
          <p:cNvSpPr>
            <a:spLocks noGrp="1"/>
          </p:cNvSpPr>
          <p:nvPr>
            <p:ph type="body" sz="quarter" idx="16"/>
          </p:nvPr>
        </p:nvSpPr>
        <p:spPr>
          <a:xfrm>
            <a:off x="1905000" y="4710114"/>
            <a:ext cx="2141764" cy="514350"/>
          </a:xfrm>
        </p:spPr>
        <p:txBody>
          <a:bodyPr/>
          <a:lstStyle/>
          <a:p>
            <a:r>
              <a:rPr lang="en-GB" dirty="0" err="1"/>
              <a:t>Moduł</a:t>
            </a:r>
            <a:r>
              <a:rPr lang="en-GB" dirty="0"/>
              <a:t> AI</a:t>
            </a:r>
            <a:endParaRPr lang="en-US" dirty="0"/>
          </a:p>
        </p:txBody>
      </p:sp>
      <p:sp>
        <p:nvSpPr>
          <p:cNvPr id="7" name="Text Placehold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a:lstStyle/>
          <a:p>
            <a:r>
              <a:rPr lang="pl-PL" dirty="0"/>
              <a:t>Dodanie możliwości płynnej regulacji natężenia filtrów (np. siła rozmycia 0-100%), co da użytkownikom większą kontrolę.</a:t>
            </a:r>
            <a:endParaRPr lang="en-US" dirty="0"/>
          </a:p>
        </p:txBody>
      </p:sp>
      <p:sp>
        <p:nvSpPr>
          <p:cNvPr id="8" name="Text Placehold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82564"/>
            <a:ext cx="5539095" cy="1010842"/>
          </a:xfrm>
        </p:spPr>
        <p:txBody>
          <a:bodyPr/>
          <a:lstStyle/>
          <a:p>
            <a:r>
              <a:rPr lang="pl-PL" dirty="0"/>
              <a:t>Implementacja lokalnej bazy danych do zapamiętywania historii edycji pomiędzy sesjami uruchomienia programu (funkcja "Ostatnio edytowane").</a:t>
            </a:r>
            <a:endParaRPr lang="en-US" dirty="0"/>
          </a:p>
        </p:txBody>
      </p:sp>
      <p:sp>
        <p:nvSpPr>
          <p:cNvPr id="9" name="Text Placehold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a:lstStyle/>
          <a:p>
            <a:r>
              <a:rPr lang="pl-PL" dirty="0"/>
              <a:t>Funkcja pozwalająca na nałożenie jednego filtra na cały folder zdjęć jednocześnie (np. "Obróć wszystkie o 90 stopni").</a:t>
            </a:r>
            <a:endParaRPr lang="en-US" dirty="0"/>
          </a:p>
        </p:txBody>
      </p:sp>
      <p:sp>
        <p:nvSpPr>
          <p:cNvPr id="10" name="Text Placehold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539095" cy="1010842"/>
          </a:xfrm>
        </p:spPr>
        <p:txBody>
          <a:bodyPr/>
          <a:lstStyle/>
          <a:p>
            <a:r>
              <a:rPr lang="en-GB" dirty="0" err="1"/>
              <a:t>Rozważamy</a:t>
            </a:r>
            <a:r>
              <a:rPr lang="pl-PL" dirty="0"/>
              <a:t> eksperymentalne wdrożenie modelu sieci neuronowej do </a:t>
            </a:r>
            <a:r>
              <a:rPr lang="en-GB" dirty="0" err="1"/>
              <a:t>wyboru</a:t>
            </a:r>
            <a:r>
              <a:rPr lang="en-GB" dirty="0"/>
              <a:t> </a:t>
            </a:r>
            <a:r>
              <a:rPr lang="en-GB" dirty="0" err="1"/>
              <a:t>filtrów</a:t>
            </a:r>
            <a:r>
              <a:rPr lang="en-GB" dirty="0"/>
              <a:t>, </a:t>
            </a:r>
            <a:r>
              <a:rPr lang="en-GB" dirty="0" err="1"/>
              <a:t>które</a:t>
            </a:r>
            <a:r>
              <a:rPr lang="en-GB" dirty="0"/>
              <a:t> </a:t>
            </a:r>
            <a:r>
              <a:rPr lang="en-GB" dirty="0" err="1"/>
              <a:t>najlepiej</a:t>
            </a:r>
            <a:r>
              <a:rPr lang="en-GB" dirty="0"/>
              <a:t> </a:t>
            </a:r>
            <a:r>
              <a:rPr lang="en-GB" dirty="0" err="1"/>
              <a:t>poprawią</a:t>
            </a:r>
            <a:r>
              <a:rPr lang="en-GB" dirty="0"/>
              <a:t> </a:t>
            </a:r>
            <a:r>
              <a:rPr lang="en-GB" dirty="0" err="1"/>
              <a:t>zdjęcie</a:t>
            </a:r>
            <a:r>
              <a:rPr lang="pl-PL" dirty="0"/>
              <a:t>.</a:t>
            </a:r>
            <a:endParaRPr lang="en-US" dirty="0"/>
          </a:p>
        </p:txBody>
      </p:sp>
      <p:sp>
        <p:nvSpPr>
          <p:cNvPr id="11" name="Date Placeholder 10">
            <a:extLst>
              <a:ext uri="{FF2B5EF4-FFF2-40B4-BE49-F238E27FC236}">
                <a16:creationId xmlns:a16="http://schemas.microsoft.com/office/drawing/2014/main" id="{40BF6865-7FAE-4B56-A995-ADF1582DCC64}"/>
              </a:ext>
            </a:extLst>
          </p:cNvPr>
          <p:cNvSpPr>
            <a:spLocks noGrp="1"/>
          </p:cNvSpPr>
          <p:nvPr>
            <p:ph type="dt" sz="half" idx="10"/>
          </p:nvPr>
        </p:nvSpPr>
        <p:spPr>
          <a:xfrm>
            <a:off x="838200" y="6356350"/>
            <a:ext cx="2743200" cy="365125"/>
          </a:xfrm>
        </p:spPr>
        <p:txBody>
          <a:bodyPr/>
          <a:lstStyle/>
          <a:p>
            <a:r>
              <a:rPr lang="en-US" dirty="0"/>
              <a:t>2026</a:t>
            </a:r>
          </a:p>
        </p:txBody>
      </p:sp>
      <p:sp>
        <p:nvSpPr>
          <p:cNvPr id="12" name="Footer Placeholder 11">
            <a:extLst>
              <a:ext uri="{FF2B5EF4-FFF2-40B4-BE49-F238E27FC236}">
                <a16:creationId xmlns:a16="http://schemas.microsoft.com/office/drawing/2014/main" id="{7312B71A-5E84-41DE-9754-5F6291F6DFB7}"/>
              </a:ext>
            </a:extLst>
          </p:cNvPr>
          <p:cNvSpPr>
            <a:spLocks noGrp="1"/>
          </p:cNvSpPr>
          <p:nvPr>
            <p:ph type="ftr" sz="quarter" idx="11"/>
          </p:nvPr>
        </p:nvSpPr>
        <p:spPr>
          <a:xfrm>
            <a:off x="6155823" y="6356350"/>
            <a:ext cx="1808712" cy="365125"/>
          </a:xfrm>
        </p:spPr>
        <p:txBody>
          <a:bodyPr/>
          <a:lstStyle/>
          <a:p>
            <a:r>
              <a:rPr lang="en-US" dirty="0"/>
              <a:t>E-PHOTO</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12</a:t>
            </a:fld>
            <a:endParaRPr lang="en-US" dirty="0"/>
          </a:p>
        </p:txBody>
      </p:sp>
    </p:spTree>
    <p:extLst>
      <p:ext uri="{BB962C8B-B14F-4D97-AF65-F5344CB8AC3E}">
        <p14:creationId xmlns:p14="http://schemas.microsoft.com/office/powerpoint/2010/main" val="1738561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5476875" y="1671639"/>
            <a:ext cx="5111750" cy="1204912"/>
          </a:xfrm>
        </p:spPr>
        <p:txBody>
          <a:bodyPr/>
          <a:lstStyle/>
          <a:p>
            <a:r>
              <a:rPr lang="en-US" dirty="0" err="1"/>
              <a:t>PODSUmowanie</a:t>
            </a:r>
            <a:endParaRPr lang="en-US" dirty="0"/>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5476875" y="3682546"/>
            <a:ext cx="5111750" cy="1525588"/>
          </a:xfrm>
        </p:spPr>
        <p:txBody>
          <a:bodyPr vert="horz" lIns="91440" tIns="45720" rIns="91440" bIns="45720" rtlCol="0" anchor="b">
            <a:normAutofit fontScale="92500" lnSpcReduction="10000"/>
          </a:bodyPr>
          <a:lstStyle/>
          <a:p>
            <a:r>
              <a:rPr lang="en-US" dirty="0"/>
              <a:t>TODO</a:t>
            </a:r>
          </a:p>
          <a:p>
            <a:r>
              <a:rPr lang="en-US"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p:txBody>
      </p:sp>
      <p:sp>
        <p:nvSpPr>
          <p:cNvPr id="4" name="Date Placeholder 3">
            <a:extLst>
              <a:ext uri="{FF2B5EF4-FFF2-40B4-BE49-F238E27FC236}">
                <a16:creationId xmlns:a16="http://schemas.microsoft.com/office/drawing/2014/main" id="{13F8C8B5-F6EC-489B-BD0F-CD89A73CAB3A}"/>
              </a:ext>
            </a:extLst>
          </p:cNvPr>
          <p:cNvSpPr>
            <a:spLocks noGrp="1"/>
          </p:cNvSpPr>
          <p:nvPr>
            <p:ph type="dt" sz="half" idx="10"/>
          </p:nvPr>
        </p:nvSpPr>
        <p:spPr>
          <a:xfrm>
            <a:off x="838200" y="6356350"/>
            <a:ext cx="2743200" cy="365125"/>
          </a:xfrm>
        </p:spPr>
        <p:txBody>
          <a:bodyPr/>
          <a:lstStyle/>
          <a:p>
            <a:r>
              <a:rPr lang="en-US" dirty="0"/>
              <a:t>2026</a:t>
            </a:r>
          </a:p>
        </p:txBody>
      </p:sp>
      <p:sp>
        <p:nvSpPr>
          <p:cNvPr id="5" name="Footer Placeholder 4">
            <a:extLst>
              <a:ext uri="{FF2B5EF4-FFF2-40B4-BE49-F238E27FC236}">
                <a16:creationId xmlns:a16="http://schemas.microsoft.com/office/drawing/2014/main" id="{11AEA823-8519-4F9D-81FA-3673131076FC}"/>
              </a:ext>
            </a:extLst>
          </p:cNvPr>
          <p:cNvSpPr>
            <a:spLocks noGrp="1"/>
          </p:cNvSpPr>
          <p:nvPr>
            <p:ph type="ftr" sz="quarter" idx="11"/>
          </p:nvPr>
        </p:nvSpPr>
        <p:spPr>
          <a:xfrm>
            <a:off x="4038600" y="6356350"/>
            <a:ext cx="4114800" cy="365125"/>
          </a:xfrm>
        </p:spPr>
        <p:txBody>
          <a:bodyPr/>
          <a:lstStyle/>
          <a:p>
            <a:r>
              <a:rPr lang="en-US" dirty="0"/>
              <a:t>E-PHOTO</a:t>
            </a:r>
          </a:p>
        </p:txBody>
      </p:sp>
      <p:sp>
        <p:nvSpPr>
          <p:cNvPr id="6" name="Slide Number Placeholder 5">
            <a:extLst>
              <a:ext uri="{FF2B5EF4-FFF2-40B4-BE49-F238E27FC236}">
                <a16:creationId xmlns:a16="http://schemas.microsoft.com/office/drawing/2014/main" id="{BAEFF51B-0E28-4171-AE7C-A31AAB42BC7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13</a:t>
            </a:fld>
            <a:endParaRPr lang="en-US" dirty="0"/>
          </a:p>
        </p:txBody>
      </p:sp>
    </p:spTree>
    <p:extLst>
      <p:ext uri="{BB962C8B-B14F-4D97-AF65-F5344CB8AC3E}">
        <p14:creationId xmlns:p14="http://schemas.microsoft.com/office/powerpoint/2010/main" val="1792449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2666632"/>
            <a:ext cx="5623034" cy="1524735"/>
          </a:xfrm>
        </p:spPr>
        <p:txBody>
          <a:bodyPr/>
          <a:lstStyle/>
          <a:p>
            <a:r>
              <a:rPr lang="en-US" dirty="0" err="1"/>
              <a:t>DZIękujemy</a:t>
            </a:r>
            <a:r>
              <a:rPr lang="en-US" dirty="0"/>
              <a:t> za </a:t>
            </a:r>
            <a:r>
              <a:rPr lang="en-US" dirty="0" err="1"/>
              <a:t>uwagę</a:t>
            </a:r>
            <a:endParaRPr lang="en-US" dirty="0"/>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a:lstStyle/>
          <a:p>
            <a:r>
              <a:rPr lang="en-US" dirty="0"/>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14</a:t>
            </a:fld>
            <a:endParaRPr lang="en-US" dirty="0"/>
          </a:p>
        </p:txBody>
      </p:sp>
    </p:spTree>
    <p:extLst>
      <p:ext uri="{BB962C8B-B14F-4D97-AF65-F5344CB8AC3E}">
        <p14:creationId xmlns:p14="http://schemas.microsoft.com/office/powerpoint/2010/main" val="3672651624"/>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83</TotalTime>
  <Words>780</Words>
  <Application>Microsoft Office PowerPoint</Application>
  <PresentationFormat>Panoramiczny</PresentationFormat>
  <Paragraphs>100</Paragraphs>
  <Slides>14</Slides>
  <Notes>0</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14</vt:i4>
      </vt:variant>
    </vt:vector>
  </HeadingPairs>
  <TitlesOfParts>
    <vt:vector size="18" baseType="lpstr">
      <vt:lpstr>Arial</vt:lpstr>
      <vt:lpstr>Calibri</vt:lpstr>
      <vt:lpstr>Tenorite</vt:lpstr>
      <vt:lpstr>Monoline</vt:lpstr>
      <vt:lpstr>E-PHOTO</vt:lpstr>
      <vt:lpstr>MOTYWACJA</vt:lpstr>
      <vt:lpstr>Cel projektu</vt:lpstr>
      <vt:lpstr>Rozwiązanie</vt:lpstr>
      <vt:lpstr>Architektura rozwiązania</vt:lpstr>
      <vt:lpstr>SCHEMAT blokowy – logika aplikacji</vt:lpstr>
      <vt:lpstr>SCHEMAT UML – BUDOWA aplikacji</vt:lpstr>
      <vt:lpstr>Zastosowane technologie</vt:lpstr>
      <vt:lpstr>PODzIał ról w zespole</vt:lpstr>
      <vt:lpstr>Kompetencje I rozwój osobisty</vt:lpstr>
      <vt:lpstr>Prezentacja produktu</vt:lpstr>
      <vt:lpstr>Perspektywy rozwoju produktu</vt:lpstr>
      <vt:lpstr>PODSUmowanie</vt:lpstr>
      <vt:lpstr>DZIękujemy za uwagę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Mateusz Mariasik</dc:creator>
  <cp:lastModifiedBy>Mateusz Mariasik</cp:lastModifiedBy>
  <cp:revision>4</cp:revision>
  <dcterms:created xsi:type="dcterms:W3CDTF">2026-01-25T11:36:57Z</dcterms:created>
  <dcterms:modified xsi:type="dcterms:W3CDTF">2026-01-25T13:05:33Z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